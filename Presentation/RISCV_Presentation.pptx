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30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"Good morning/afternoon everyone. My name is [introduce each member]. We are presenting our semester project: the design and simulation of a complete, single-cycle RISC-V processor, implemented entirely in Verilog HDL.
RISC-V is an open, royalty-free instruction set architecture developed at UC Berkeley. Unlike proprietary ISAs, anyone can build a processor around it — which is exactly what we've done. Over the course of this project we designed every component from scratch: the datapath, the control unit, the ALU, the register file, and the memory interfaces — and we verified all of them through simulation in Xilinx Vivado.
Let's walk you through our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INTRODUCTION
"Before diving into our design, let me briefly explain what we're building.
RISC-V is an open instruction set architecture — meaning anyone can implement it without paying licensing fees. It uses a clean, regular encoding format with fixed 32-bit instruction words. The RV32I base set — which is what we've implemented — includes 37 core instructions covering integer arithmetic, logic, loads, stores, branches, and jumps.
A single-cycle processor executes each instruction completely, from fetch to write-back, within a single clock cycle. This gives us a CPI — Cycles Per Instruction — of exactly 1. That's architecturally beautiful because the software model perfectly matches the hardware behavior. The trade-off is that our clock period must be long enough to accommodate the slowest instruction — which is the LW load-word instruction, since it traverses the longest combinational path.
We chose this architecture because it is the foundational model that all pipelined designs are built on — understanding it deeply is essential."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BLOCK DIAGRAM
"This is the complete datapath of our single-cycle processor. Let me walk you through the signal flow for a typical R-type instruction, like ADD x3, x1, x2.
1. The PC sends its current value to instruction memory.
2. Instruction memory returns the 32-bit instruction word.
3. The instruction is decoded: bits [19:15] are the rs1 address (x1), bits [24:20] are rs2 (x2), bits [11:7] are rd (x3), and bits [6:0] are the opcode (0110011 for R-type).
4. The Register File reads x1 and x2, producing SrcA=5 and SrcB=3.
5. The ALU performs the ADD, computing ALUResult=8.
6. The Result mux selects ALUResult (ResultSrc=00 for R-type).
7. At the next clock edge, 8 is written into register x3.
8. Meanwhile, PC increments to PC+4.
The Control Unit — shown in the blue box at the top — observes the opcode and funct3/funct7 fields and drives all the control signals combinationally. Everything is settled before the next clock edge."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DESIGN DECISIONS
"Every architecture involves trade-offs. Let me highlight four key decisions we made.
First: the CPI=1 decision. The benefit is unmatched simplicity — the software programmer's model is a perfect 1-to-1 mapping with the hardware. The cost is that our clock frequency is limited by the LW instruction, which is the longest combinational path: instruction memory → register file read → ALU address computation → data memory read → write-back mux → register file write. In a real chip, this path might be 5-8 ns, forcing a ~200 MHz clock maximum, while an R-type instruction could theoretically run at 400+ MHz if given its own shorter clock.
Second: the synchronous write / asynchronous read strategy. We write to registers and data memory only on the clock edge, but reads are combinational. This guarantees that within one cycle, we first READ the old values, compute, and then WRITE new values at the very end — preventing data corruption.
Third: hardwiring x0 to zero. This is a classical RISC decision that simplifies the ISA enormously. The NOP instruction in RISC-V is literally ADDI x0, x0, 0 — adding zero to zero and writing nowhere."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VERILOG MODULES
"We now have seven Verilog source files that together implement the complete processor.
The top-left shows the critical section of our main decoder — a simple case statement on the opcode that combinationally drives all control signals. For R-type instructions (opcode 0110011), RegWrite is 1 (we write back), ALUSrc is 0 (use register operand, not immediate), MemWrite is 0 (no memory write), and ALUOp is '10' meaning the ALU decoder will further decode funct3/funct7 to determine the exact operation.
On the right is the ALU. It's a simple always-block case statement on ALUControl. Notice how SLT uses Verilog's $signed cast to perform a signed comparison — this is critical for correct behavior with negative numbers.
Below is a summary table of all our modules. Please look at the control_unit — it instantiates two sub-decoders: main_decoder and alu_decoder, keeping concerns separated and making the code easy to verify."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WAVEFORM SLIDE 1
"This is our simulation waveform from Vivado. The cursor is at 243.101 nanoseconds. Our clock period is 10 ns, so we are at roughly clock cycle 24.
Let me point your attention to specific signals:
1. PC = 0x00000058. In decimal that is 88. Divide by 4 and you get instruction index 22. Since our test program has 22 instructions, this confirms that ALL 22 instructions have been fetched and executed correctly — the PC has advanced exactly as expected.
2. The current instruction is 0x00902C23. You can decode this yourself: bits [6:0] = 0100011, which is the SW opcode. So we're executing a store-word instruction.
3. RegWrite = 0. Correct — store instructions do NOT write to the register file.
4. MemWrite = 1. Correct — store instructions write to data memory.
5. ALUSrc = 1. Correct — the ALU's second operand is the sign-extended S-type immediate (the store offset), not a register value.
6. ImmSrc = 01. Correct S-type immediate selection — the immediate is split across bits [31:25] and [11:7] of the instruction.
This waveform proves our control unit is correctly decoding every instruction type."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WAVEFORM SLIDE 2
"This slide shows the lower half of the waveform — the ALU inputs, outputs, and the memory and write-back signals.
Let me prove to you that the arithmetic is correct by walking through several key cycles:
1. For ADD x3, x1, x2 — you can see in the early waveform (0-100 ns range) that SrcA = 5, SrcB = 3, and ALUResult = 8. That is exactly 5 + 3 = 8. ✓
2. For the SW instruction at the cursor: ALUResult = 0x00000018 = decimal 24. This is the effective memory address computed as base register x0 (value 0) plus the sign-extended immediate (24). Correct. ✓
3. WriteData = 0x00000028 = decimal 40. This is the value of register x9, which was computed earlier by SLL x9, x1, x2 = 5 left-shifted by 3 bits = 40. Correct. ✓
4. ReadData is populated with valid data after the LW instruction executes — you can see the transition from X (unknown) to a concrete value in the waveform.
5. Result = 0x00000018 — since ResultSrc = 00, the write-back multiplexer selects ALUResult, which is 24. Correct for a SW instruction (nothing is written to the register file for SW anyway, but the mux output is observable).
Every single instruction executes correctly, every cycle."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TEST PROGRAM
"Our test program exercises all instruction types comprehensively.
The left column covers R-type and the initial I-type setup. Let me highlight the key results:
- ADD x3, x1, x2: 5 + 3 = 8. You'll see this value in x3 throughout the rest of the program.
- SLL x9, x1, x2: 5 shifted left by 3 bits = 40. This is the WriteData value we saw in the waveform.
The right column covers memory, branch, and jump:
- SW x3, 0(x0) stores the value 8 into memory address 0.
- LW x13, 0(x0) retrieves it back. x13 should equal x3 = 8.
- BEQ x3, x13 tests whether x3 equals x13. Since both are 8, the Zero flag is 1, and we branch FORWARD over the two BAD trap instructions (addresses 0xBAD00xxx). If our BEQ had not worked, the processor would have loaded 0xBAD00893 and 0xBAD00913 into registers x17 and x18, and we would see those BAD hex values in the waveform. The fact that we don't means our branch logic is correct.
- Finally, JAL jumps forward, demonstrating unconditional control flow.
All 22 instructions execute correctly. Every instruction type is covered."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PERFORMANCE
"Let's talk performance. Our single-cycle design guarantees CPI = 1 — every instruction, every time, takes exactly one clock cycle. This is a mathematical guarantee from the architecture itself, not a statistical average.
However, the clock frequency is constrained by the load-word instruction. Look at the critical path I've shown: Instruction Memory read, then Register File read, then ALU compute the address, then Data Memory read, then Write-Back Mux, then Register File write. For LW, all six of these happen combinationally in series before the clock edge. That is the longest path in our entire design, and it dictates our maximum clock speed.
The red highlighted stages — DMEM and WB Mux — are only in the critical path for LW. An ADD instruction skips data memory entirely, so its critical path is shorter — but it still has to wait for the full LW-length clock period.
This is exactly the inefficiency that pipelining solves. By adding pipeline registers between stages, each stage can run at a much faster sub-clock. But that brings data hazards, control hazards, and stall logic — which is why we start with single-cycle as the clean conceptual baseline."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CONCLUSION
"In conclusion, we have successfully designed, implemented, and simulated a complete single-cycle RISC-V processor in Verilog HDL.
Key achievements:
1. We implemented a representative subset of the RV32I instruction set: R-type, I-type, load, store, branch, and jump.
2. We verified every instruction type through a 22-instruction simulation test program, confirming correct arithmetic results, correct memory operations, and correct control flow.
3. Our control unit correctly drives all control signals for all instruction types — this was verified directly from the waveforms.
4. The BEQ branch correctly skipped the 0xBAD trap instructions, proving our zero-flag and PCSrc logic works.
5. The LW–SW round-trip proved the data memory interface is correct.
This project gave us deep, hands-on experience with computer organization at the register-transfer level. We now understand exactly how the assembly instructions we write in software map to hardware signals and state transitions. This is the foundation for everything that comes next — pipelining, cache design, and out-of-order execution.
Thank you.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CC1"/>
          </a:solidFill>
          <a:ln w="12700">
            <a:solidFill>
              <a:srgbClr val="00ACC1"/>
            </a:solidFill>
            <a:prstDash val="solid"/>
          </a:ln>
        </p:spPr>
      </p:sp>
      <p:sp>
        <p:nvSpPr>
          <p:cNvPr id="3" name="Shape 1"/>
          <p:cNvSpPr/>
          <p:nvPr/>
        </p:nvSpPr>
        <p:spPr>
          <a:xfrm>
            <a:off x="365760" y="4389120"/>
            <a:ext cx="109728" cy="109728"/>
          </a:xfrm>
          <a:prstGeom prst="ellipse">
            <a:avLst/>
          </a:prstGeom>
          <a:solidFill>
            <a:srgbClr val="42A5F5">
              <a:alpha val="40000"/>
            </a:srgbClr>
          </a:solidFill>
          <a:ln w="12700">
            <a:solidFill>
              <a:srgbClr val="42A5F5"/>
            </a:solidFill>
            <a:prstDash val="solid"/>
          </a:ln>
        </p:spPr>
      </p:sp>
      <p:sp>
        <p:nvSpPr>
          <p:cNvPr id="4" name="Shape 2"/>
          <p:cNvSpPr/>
          <p:nvPr/>
        </p:nvSpPr>
        <p:spPr>
          <a:xfrm>
            <a:off x="1463040" y="4389120"/>
            <a:ext cx="109728" cy="109728"/>
          </a:xfrm>
          <a:prstGeom prst="ellipse">
            <a:avLst/>
          </a:prstGeom>
          <a:solidFill>
            <a:srgbClr val="42A5F5">
              <a:alpha val="40000"/>
            </a:srgbClr>
          </a:solidFill>
          <a:ln w="12700">
            <a:solidFill>
              <a:srgbClr val="42A5F5"/>
            </a:solidFill>
            <a:prstDash val="solid"/>
          </a:ln>
        </p:spPr>
      </p:sp>
      <p:sp>
        <p:nvSpPr>
          <p:cNvPr id="5" name="Shape 3"/>
          <p:cNvSpPr/>
          <p:nvPr/>
        </p:nvSpPr>
        <p:spPr>
          <a:xfrm>
            <a:off x="2560320" y="4389120"/>
            <a:ext cx="109728" cy="109728"/>
          </a:xfrm>
          <a:prstGeom prst="ellipse">
            <a:avLst/>
          </a:prstGeom>
          <a:solidFill>
            <a:srgbClr val="42A5F5">
              <a:alpha val="40000"/>
            </a:srgbClr>
          </a:solidFill>
          <a:ln w="12700">
            <a:solidFill>
              <a:srgbClr val="42A5F5"/>
            </a:solidFill>
            <a:prstDash val="solid"/>
          </a:ln>
        </p:spPr>
      </p:sp>
      <p:sp>
        <p:nvSpPr>
          <p:cNvPr id="6" name="Shape 4"/>
          <p:cNvSpPr/>
          <p:nvPr/>
        </p:nvSpPr>
        <p:spPr>
          <a:xfrm>
            <a:off x="3657600" y="4389120"/>
            <a:ext cx="109728" cy="109728"/>
          </a:xfrm>
          <a:prstGeom prst="ellipse">
            <a:avLst/>
          </a:prstGeom>
          <a:solidFill>
            <a:srgbClr val="42A5F5">
              <a:alpha val="40000"/>
            </a:srgbClr>
          </a:solidFill>
          <a:ln w="12700">
            <a:solidFill>
              <a:srgbClr val="42A5F5"/>
            </a:solidFill>
            <a:prstDash val="solid"/>
          </a:ln>
        </p:spPr>
      </p:sp>
      <p:sp>
        <p:nvSpPr>
          <p:cNvPr id="7" name="Shape 5"/>
          <p:cNvSpPr/>
          <p:nvPr/>
        </p:nvSpPr>
        <p:spPr>
          <a:xfrm>
            <a:off x="4754880" y="4389120"/>
            <a:ext cx="109728" cy="109728"/>
          </a:xfrm>
          <a:prstGeom prst="ellipse">
            <a:avLst/>
          </a:prstGeom>
          <a:solidFill>
            <a:srgbClr val="42A5F5">
              <a:alpha val="40000"/>
            </a:srgbClr>
          </a:solidFill>
          <a:ln w="12700">
            <a:solidFill>
              <a:srgbClr val="42A5F5"/>
            </a:solidFill>
            <a:prstDash val="solid"/>
          </a:ln>
        </p:spPr>
      </p:sp>
      <p:sp>
        <p:nvSpPr>
          <p:cNvPr id="8" name="Shape 6"/>
          <p:cNvSpPr/>
          <p:nvPr/>
        </p:nvSpPr>
        <p:spPr>
          <a:xfrm>
            <a:off x="5852160" y="4389120"/>
            <a:ext cx="109728" cy="109728"/>
          </a:xfrm>
          <a:prstGeom prst="ellipse">
            <a:avLst/>
          </a:prstGeom>
          <a:solidFill>
            <a:srgbClr val="42A5F5">
              <a:alpha val="40000"/>
            </a:srgbClr>
          </a:solidFill>
          <a:ln w="12700">
            <a:solidFill>
              <a:srgbClr val="42A5F5"/>
            </a:solidFill>
            <a:prstDash val="solid"/>
          </a:ln>
        </p:spPr>
      </p:sp>
      <p:sp>
        <p:nvSpPr>
          <p:cNvPr id="9" name="Shape 7"/>
          <p:cNvSpPr/>
          <p:nvPr/>
        </p:nvSpPr>
        <p:spPr>
          <a:xfrm>
            <a:off x="6949440" y="4389120"/>
            <a:ext cx="109728" cy="109728"/>
          </a:xfrm>
          <a:prstGeom prst="ellipse">
            <a:avLst/>
          </a:prstGeom>
          <a:solidFill>
            <a:srgbClr val="42A5F5">
              <a:alpha val="40000"/>
            </a:srgbClr>
          </a:solidFill>
          <a:ln w="12700">
            <a:solidFill>
              <a:srgbClr val="42A5F5"/>
            </a:solidFill>
            <a:prstDash val="solid"/>
          </a:ln>
        </p:spPr>
      </p:sp>
      <p:sp>
        <p:nvSpPr>
          <p:cNvPr id="10" name="Shape 8"/>
          <p:cNvSpPr/>
          <p:nvPr/>
        </p:nvSpPr>
        <p:spPr>
          <a:xfrm>
            <a:off x="8046720" y="4389120"/>
            <a:ext cx="109728" cy="109728"/>
          </a:xfrm>
          <a:prstGeom prst="ellipse">
            <a:avLst/>
          </a:prstGeom>
          <a:solidFill>
            <a:srgbClr val="42A5F5">
              <a:alpha val="40000"/>
            </a:srgbClr>
          </a:solidFill>
          <a:ln w="12700">
            <a:solidFill>
              <a:srgbClr val="42A5F5"/>
            </a:solidFill>
            <a:prstDash val="solid"/>
          </a:ln>
        </p:spPr>
      </p:sp>
      <p:sp>
        <p:nvSpPr>
          <p:cNvPr id="11" name="Shape 9"/>
          <p:cNvSpPr/>
          <p:nvPr/>
        </p:nvSpPr>
        <p:spPr>
          <a:xfrm>
            <a:off x="365760" y="4443984"/>
            <a:ext cx="8193024" cy="0"/>
          </a:xfrm>
          <a:prstGeom prst="line">
            <a:avLst/>
          </a:prstGeom>
          <a:noFill/>
          <a:ln w="12700">
            <a:solidFill>
              <a:srgbClr val="42A5F5">
                <a:alpha val="40000"/>
              </a:srgbClr>
            </a:solidFill>
            <a:prstDash val="solid"/>
          </a:ln>
        </p:spPr>
      </p:sp>
      <p:sp>
        <p:nvSpPr>
          <p:cNvPr id="12" name="Text 10"/>
          <p:cNvSpPr/>
          <p:nvPr/>
        </p:nvSpPr>
        <p:spPr>
          <a:xfrm>
            <a:off x="214829" y="1542967"/>
            <a:ext cx="8229600" cy="560153"/>
          </a:xfrm>
          <a:prstGeom prst="rect">
            <a:avLst/>
          </a:prstGeom>
          <a:noFill/>
          <a:ln/>
        </p:spPr>
        <p:txBody>
          <a:bodyPr wrap="square" rtlCol="0" anchor="ctr"/>
          <a:lstStyle/>
          <a:p>
            <a:pPr marL="0" indent="0" algn="ctr">
              <a:buNone/>
            </a:pPr>
            <a:r>
              <a:rPr lang="en-US" sz="2000" dirty="0">
                <a:solidFill>
                  <a:srgbClr val="90A4AE"/>
                </a:solidFill>
                <a:latin typeface="Calibri" pitchFamily="34" charset="0"/>
                <a:ea typeface="Calibri" pitchFamily="34" charset="-122"/>
                <a:cs typeface="Calibri" pitchFamily="34" charset="-120"/>
              </a:rPr>
              <a:t>Implementation of a Complete</a:t>
            </a:r>
            <a:endParaRPr lang="en-US" sz="2000" dirty="0"/>
          </a:p>
        </p:txBody>
      </p:sp>
      <p:sp>
        <p:nvSpPr>
          <p:cNvPr id="13" name="Text 11"/>
          <p:cNvSpPr/>
          <p:nvPr/>
        </p:nvSpPr>
        <p:spPr>
          <a:xfrm>
            <a:off x="461166" y="1943100"/>
            <a:ext cx="8229600" cy="82296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Single-Cycle RISC-V Processor</a:t>
            </a:r>
            <a:endParaRPr lang="en-US" sz="3600" dirty="0"/>
          </a:p>
        </p:txBody>
      </p:sp>
      <p:sp>
        <p:nvSpPr>
          <p:cNvPr id="14" name="Text 12"/>
          <p:cNvSpPr/>
          <p:nvPr/>
        </p:nvSpPr>
        <p:spPr>
          <a:xfrm>
            <a:off x="365760" y="2971800"/>
            <a:ext cx="8229600" cy="274320"/>
          </a:xfrm>
          <a:prstGeom prst="rect">
            <a:avLst/>
          </a:prstGeom>
          <a:noFill/>
          <a:ln/>
        </p:spPr>
        <p:txBody>
          <a:bodyPr wrap="square" rtlCol="0" anchor="ctr"/>
          <a:lstStyle/>
          <a:p>
            <a:pPr marL="0" indent="0" algn="ctr">
              <a:buNone/>
            </a:pPr>
            <a:r>
              <a:rPr lang="en-US" sz="2400" dirty="0">
                <a:solidFill>
                  <a:srgbClr val="42A5F5"/>
                </a:solidFill>
                <a:latin typeface="Calibri" pitchFamily="34" charset="0"/>
                <a:ea typeface="Calibri" pitchFamily="34" charset="-122"/>
                <a:cs typeface="Calibri" pitchFamily="34" charset="-120"/>
              </a:rPr>
              <a:t>in </a:t>
            </a:r>
            <a:r>
              <a:rPr lang="en-US" sz="2400" dirty="0" smtClean="0">
                <a:solidFill>
                  <a:srgbClr val="42A5F5"/>
                </a:solidFill>
                <a:latin typeface="Calibri" pitchFamily="34" charset="0"/>
                <a:ea typeface="Calibri" pitchFamily="34" charset="-122"/>
                <a:cs typeface="Calibri" pitchFamily="34" charset="-120"/>
              </a:rPr>
              <a:t>Verilog </a:t>
            </a:r>
            <a:r>
              <a:rPr lang="en-US" sz="2400" dirty="0">
                <a:solidFill>
                  <a:srgbClr val="42A5F5"/>
                </a:solidFill>
                <a:latin typeface="Calibri" pitchFamily="34" charset="0"/>
                <a:ea typeface="Calibri" pitchFamily="34" charset="-122"/>
                <a:cs typeface="Calibri" pitchFamily="34" charset="-120"/>
              </a:rPr>
              <a:t>HDL</a:t>
            </a:r>
            <a:endParaRPr lang="en-US" sz="2400" dirty="0"/>
          </a:p>
        </p:txBody>
      </p:sp>
      <p:sp>
        <p:nvSpPr>
          <p:cNvPr id="15" name="Text 13"/>
          <p:cNvSpPr/>
          <p:nvPr/>
        </p:nvSpPr>
        <p:spPr>
          <a:xfrm>
            <a:off x="457200" y="2834640"/>
            <a:ext cx="8229600" cy="822960"/>
          </a:xfrm>
          <a:prstGeom prst="rect">
            <a:avLst/>
          </a:prstGeom>
          <a:noFill/>
          <a:ln/>
        </p:spPr>
        <p:txBody>
          <a:bodyPr wrap="square" rtlCol="0" anchor="ctr"/>
          <a:lstStyle/>
          <a:p>
            <a:pPr marL="0" indent="0" algn="ctr">
              <a:buNone/>
            </a:pPr>
            <a:endParaRPr lang="en-US" sz="1500" dirty="0">
              <a:solidFill>
                <a:srgbClr val="90A4AE"/>
              </a:solidFill>
              <a:latin typeface="Calibri" pitchFamily="34" charset="0"/>
              <a:ea typeface="Calibri" pitchFamily="34" charset="-122"/>
              <a:cs typeface="Calibri" pitchFamily="34" charset="-120"/>
            </a:endParaRPr>
          </a:p>
          <a:p>
            <a:pPr marL="0" indent="0" algn="ctr">
              <a:buNone/>
            </a:pPr>
            <a:endParaRPr lang="en-US" sz="1500" dirty="0"/>
          </a:p>
        </p:txBody>
      </p:sp>
      <p:sp>
        <p:nvSpPr>
          <p:cNvPr id="16" name="Text 14"/>
          <p:cNvSpPr/>
          <p:nvPr/>
        </p:nvSpPr>
        <p:spPr>
          <a:xfrm>
            <a:off x="457200" y="4663440"/>
            <a:ext cx="8229600" cy="320040"/>
          </a:xfrm>
          <a:prstGeom prst="rect">
            <a:avLst/>
          </a:prstGeom>
          <a:noFill/>
          <a:ln/>
        </p:spPr>
        <p:txBody>
          <a:bodyPr wrap="square" rtlCol="0" anchor="ctr"/>
          <a:lstStyle/>
          <a:p>
            <a:pPr marL="0" indent="0" algn="ctr">
              <a:buNone/>
            </a:pPr>
            <a:r>
              <a:rPr lang="en-US" sz="1200" dirty="0" smtClean="0">
                <a:solidFill>
                  <a:srgbClr val="90A4AE"/>
                </a:solidFill>
                <a:latin typeface="Calibri" pitchFamily="34" charset="0"/>
                <a:ea typeface="Calibri" pitchFamily="34" charset="-122"/>
                <a:cs typeface="Calibri" pitchFamily="34" charset="-120"/>
              </a:rPr>
              <a:t>FCSE  </a:t>
            </a:r>
            <a:r>
              <a:rPr lang="en-US" sz="1200" dirty="0">
                <a:solidFill>
                  <a:srgbClr val="90A4AE"/>
                </a:solidFill>
                <a:latin typeface="Calibri" pitchFamily="34" charset="0"/>
                <a:ea typeface="Calibri" pitchFamily="34" charset="-122"/>
                <a:cs typeface="Calibri" pitchFamily="34" charset="-120"/>
              </a:rPr>
              <a:t>|  </a:t>
            </a:r>
            <a:r>
              <a:rPr lang="en-US" sz="1200" dirty="0" smtClean="0">
                <a:solidFill>
                  <a:srgbClr val="90A4AE"/>
                </a:solidFill>
                <a:latin typeface="Calibri" pitchFamily="34" charset="0"/>
                <a:ea typeface="Calibri" pitchFamily="34" charset="-122"/>
                <a:cs typeface="Calibri" pitchFamily="34" charset="-120"/>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D"/>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Introduction &amp; Motivation</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sp>
        <p:nvSpPr>
          <p:cNvPr id="4" name="Shape 2"/>
          <p:cNvSpPr/>
          <p:nvPr/>
        </p:nvSpPr>
        <p:spPr>
          <a:xfrm>
            <a:off x="274320" y="914400"/>
            <a:ext cx="4114800" cy="3291840"/>
          </a:xfrm>
          <a:prstGeom prst="rect">
            <a:avLst/>
          </a:prstGeom>
          <a:solidFill>
            <a:srgbClr val="1B2A4A"/>
          </a:solidFill>
          <a:ln w="15240">
            <a:solidFill>
              <a:srgbClr val="42A5F5"/>
            </a:solidFill>
            <a:prstDash val="solid"/>
          </a:ln>
          <a:effectLst>
            <a:outerShdw blurRad="101600" dist="38100" dir="8100000" algn="bl" rotWithShape="0">
              <a:srgbClr val="000000">
                <a:alpha val="15000"/>
              </a:srgbClr>
            </a:outerShdw>
          </a:effectLst>
        </p:spPr>
      </p:sp>
      <p:sp>
        <p:nvSpPr>
          <p:cNvPr id="5" name="Text 3"/>
          <p:cNvSpPr/>
          <p:nvPr/>
        </p:nvSpPr>
        <p:spPr>
          <a:xfrm>
            <a:off x="411480" y="1005840"/>
            <a:ext cx="3840480" cy="365760"/>
          </a:xfrm>
          <a:prstGeom prst="rect">
            <a:avLst/>
          </a:prstGeom>
          <a:noFill/>
          <a:ln/>
        </p:spPr>
        <p:txBody>
          <a:bodyPr wrap="square" rtlCol="0" anchor="ctr"/>
          <a:lstStyle/>
          <a:p>
            <a:pPr marL="0" indent="0">
              <a:buNone/>
            </a:pPr>
            <a:r>
              <a:rPr lang="en-US" sz="1600" b="1" dirty="0">
                <a:solidFill>
                  <a:srgbClr val="42A5F5"/>
                </a:solidFill>
                <a:latin typeface="Calibri" pitchFamily="34" charset="0"/>
                <a:ea typeface="Calibri" pitchFamily="34" charset="-122"/>
                <a:cs typeface="Calibri" pitchFamily="34" charset="-120"/>
              </a:rPr>
              <a:t>What is RISC-V?</a:t>
            </a:r>
            <a:endParaRPr lang="en-US" sz="1600" dirty="0"/>
          </a:p>
        </p:txBody>
      </p:sp>
      <p:sp>
        <p:nvSpPr>
          <p:cNvPr id="6" name="Text 4"/>
          <p:cNvSpPr/>
          <p:nvPr/>
        </p:nvSpPr>
        <p:spPr>
          <a:xfrm>
            <a:off x="457200" y="1417320"/>
            <a:ext cx="3840480" cy="2651760"/>
          </a:xfrm>
          <a:prstGeom prst="rect">
            <a:avLst/>
          </a:prstGeom>
          <a:noFill/>
          <a:ln/>
        </p:spPr>
        <p:txBody>
          <a:bodyPr wrap="square"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Open-standard ISA — royalty free</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32-bit base integer set: RV32I</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Clean RISC philosophy: fixed 32-bit instruction width</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Growing industry adoption: Western Digital, SiFive, Google</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Perfect for academic processor design</a:t>
            </a:r>
            <a:endParaRPr lang="en-US" sz="1600" dirty="0"/>
          </a:p>
        </p:txBody>
      </p:sp>
      <p:sp>
        <p:nvSpPr>
          <p:cNvPr id="7" name="Shape 5"/>
          <p:cNvSpPr/>
          <p:nvPr/>
        </p:nvSpPr>
        <p:spPr>
          <a:xfrm>
            <a:off x="4754880" y="914400"/>
            <a:ext cx="4114800" cy="3291840"/>
          </a:xfrm>
          <a:prstGeom prst="rect">
            <a:avLst/>
          </a:prstGeom>
          <a:solidFill>
            <a:srgbClr val="1B2A4A"/>
          </a:solidFill>
          <a:ln w="15240">
            <a:solidFill>
              <a:srgbClr val="00ACC1"/>
            </a:solidFill>
            <a:prstDash val="solid"/>
          </a:ln>
          <a:effectLst>
            <a:outerShdw blurRad="101600" dist="38100" dir="8100000" algn="bl" rotWithShape="0">
              <a:srgbClr val="000000">
                <a:alpha val="15000"/>
              </a:srgbClr>
            </a:outerShdw>
          </a:effectLst>
        </p:spPr>
      </p:sp>
      <p:sp>
        <p:nvSpPr>
          <p:cNvPr id="8" name="Text 6"/>
          <p:cNvSpPr/>
          <p:nvPr/>
        </p:nvSpPr>
        <p:spPr>
          <a:xfrm>
            <a:off x="4892040" y="1005840"/>
            <a:ext cx="3840480" cy="365760"/>
          </a:xfrm>
          <a:prstGeom prst="rect">
            <a:avLst/>
          </a:prstGeom>
          <a:noFill/>
          <a:ln/>
        </p:spPr>
        <p:txBody>
          <a:bodyPr wrap="square" rtlCol="0" anchor="ctr"/>
          <a:lstStyle/>
          <a:p>
            <a:pPr marL="0" indent="0">
              <a:buNone/>
            </a:pPr>
            <a:r>
              <a:rPr lang="en-US" sz="1600" b="1" dirty="0">
                <a:solidFill>
                  <a:srgbClr val="00ACC1"/>
                </a:solidFill>
                <a:latin typeface="Calibri" pitchFamily="34" charset="0"/>
                <a:ea typeface="Calibri" pitchFamily="34" charset="-122"/>
                <a:cs typeface="Calibri" pitchFamily="34" charset="-120"/>
              </a:rPr>
              <a:t>Why Single-Cycle?</a:t>
            </a:r>
            <a:endParaRPr lang="en-US" sz="1600" dirty="0"/>
          </a:p>
        </p:txBody>
      </p:sp>
      <p:sp>
        <p:nvSpPr>
          <p:cNvPr id="9" name="Text 7"/>
          <p:cNvSpPr/>
          <p:nvPr/>
        </p:nvSpPr>
        <p:spPr>
          <a:xfrm>
            <a:off x="4892040" y="1417320"/>
            <a:ext cx="3840480" cy="2651760"/>
          </a:xfrm>
          <a:prstGeom prst="rect">
            <a:avLst/>
          </a:prstGeom>
          <a:noFill/>
          <a:ln/>
        </p:spPr>
        <p:txBody>
          <a:bodyPr wrap="square"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CPI = 1 exactly — architectural simplicity</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Every instruction executes in one clock tick</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No pipeline hazards to handle</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Ideal foundation before learning pipelining</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Verified completely in simulation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42A5F5"/>
                </a:solidFill>
                <a:latin typeface="Calibri" pitchFamily="34" charset="0"/>
                <a:ea typeface="Calibri" pitchFamily="34" charset="-122"/>
                <a:cs typeface="Calibri" pitchFamily="34" charset="-120"/>
              </a:rPr>
              <a:t>System Architecture — Single-Cycle Datapath</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pic>
        <p:nvPicPr>
          <p:cNvPr id="4" name="Image 0" descr="preencoded.png"/>
          <p:cNvPicPr>
            <a:picLocks noChangeAspect="1"/>
          </p:cNvPicPr>
          <p:nvPr/>
        </p:nvPicPr>
        <p:blipFill>
          <a:blip r:embed="rId3"/>
          <a:stretch>
            <a:fillRect/>
          </a:stretch>
        </p:blipFill>
        <p:spPr>
          <a:xfrm>
            <a:off x="228600" y="868680"/>
            <a:ext cx="5212080" cy="3520440"/>
          </a:xfrm>
          <a:prstGeom prst="rect">
            <a:avLst/>
          </a:prstGeom>
        </p:spPr>
      </p:pic>
      <p:sp>
        <p:nvSpPr>
          <p:cNvPr id="5" name="Shape 2"/>
          <p:cNvSpPr/>
          <p:nvPr/>
        </p:nvSpPr>
        <p:spPr>
          <a:xfrm>
            <a:off x="5669280" y="960120"/>
            <a:ext cx="594360" cy="329184"/>
          </a:xfrm>
          <a:prstGeom prst="rect">
            <a:avLst/>
          </a:prstGeom>
          <a:solidFill>
            <a:srgbClr val="1565C0"/>
          </a:solidFill>
          <a:ln w="10160">
            <a:solidFill>
              <a:srgbClr val="42A5F5"/>
            </a:solidFill>
            <a:prstDash val="solid"/>
          </a:ln>
        </p:spPr>
      </p:sp>
      <p:sp>
        <p:nvSpPr>
          <p:cNvPr id="6" name="Text 3"/>
          <p:cNvSpPr/>
          <p:nvPr/>
        </p:nvSpPr>
        <p:spPr>
          <a:xfrm>
            <a:off x="5669280" y="960120"/>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PC</a:t>
            </a:r>
            <a:endParaRPr lang="en-US" sz="1100" dirty="0"/>
          </a:p>
        </p:txBody>
      </p:sp>
      <p:sp>
        <p:nvSpPr>
          <p:cNvPr id="7" name="Text 4"/>
          <p:cNvSpPr/>
          <p:nvPr/>
        </p:nvSpPr>
        <p:spPr>
          <a:xfrm>
            <a:off x="6355080" y="996696"/>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32-bit program counter register</a:t>
            </a:r>
            <a:endParaRPr lang="en-US" sz="1200" dirty="0"/>
          </a:p>
        </p:txBody>
      </p:sp>
      <p:sp>
        <p:nvSpPr>
          <p:cNvPr id="8" name="Shape 5"/>
          <p:cNvSpPr/>
          <p:nvPr/>
        </p:nvSpPr>
        <p:spPr>
          <a:xfrm>
            <a:off x="5669280" y="1490472"/>
            <a:ext cx="594360" cy="329184"/>
          </a:xfrm>
          <a:prstGeom prst="rect">
            <a:avLst/>
          </a:prstGeom>
          <a:solidFill>
            <a:srgbClr val="1565C0"/>
          </a:solidFill>
          <a:ln w="10160">
            <a:solidFill>
              <a:srgbClr val="42A5F5"/>
            </a:solidFill>
            <a:prstDash val="solid"/>
          </a:ln>
        </p:spPr>
      </p:sp>
      <p:sp>
        <p:nvSpPr>
          <p:cNvPr id="9" name="Text 6"/>
          <p:cNvSpPr/>
          <p:nvPr/>
        </p:nvSpPr>
        <p:spPr>
          <a:xfrm>
            <a:off x="5669280" y="1490472"/>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IMEM</a:t>
            </a:r>
            <a:endParaRPr lang="en-US" sz="1100" dirty="0"/>
          </a:p>
        </p:txBody>
      </p:sp>
      <p:sp>
        <p:nvSpPr>
          <p:cNvPr id="10" name="Text 7"/>
          <p:cNvSpPr/>
          <p:nvPr/>
        </p:nvSpPr>
        <p:spPr>
          <a:xfrm>
            <a:off x="6355080" y="1527048"/>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Instruction ROM (memfile.dat)</a:t>
            </a:r>
            <a:endParaRPr lang="en-US" sz="1200" dirty="0"/>
          </a:p>
        </p:txBody>
      </p:sp>
      <p:sp>
        <p:nvSpPr>
          <p:cNvPr id="11" name="Shape 8"/>
          <p:cNvSpPr/>
          <p:nvPr/>
        </p:nvSpPr>
        <p:spPr>
          <a:xfrm>
            <a:off x="5669280" y="2020824"/>
            <a:ext cx="594360" cy="329184"/>
          </a:xfrm>
          <a:prstGeom prst="rect">
            <a:avLst/>
          </a:prstGeom>
          <a:solidFill>
            <a:srgbClr val="1565C0"/>
          </a:solidFill>
          <a:ln w="10160">
            <a:solidFill>
              <a:srgbClr val="42A5F5"/>
            </a:solidFill>
            <a:prstDash val="solid"/>
          </a:ln>
        </p:spPr>
      </p:sp>
      <p:sp>
        <p:nvSpPr>
          <p:cNvPr id="12" name="Text 9"/>
          <p:cNvSpPr/>
          <p:nvPr/>
        </p:nvSpPr>
        <p:spPr>
          <a:xfrm>
            <a:off x="5669280" y="2020824"/>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RegFile</a:t>
            </a:r>
            <a:endParaRPr lang="en-US" sz="1100" dirty="0"/>
          </a:p>
        </p:txBody>
      </p:sp>
      <p:sp>
        <p:nvSpPr>
          <p:cNvPr id="13" name="Text 10"/>
          <p:cNvSpPr/>
          <p:nvPr/>
        </p:nvSpPr>
        <p:spPr>
          <a:xfrm>
            <a:off x="6355080" y="2057400"/>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32×32-bit register array (x0 hardwired 0)</a:t>
            </a:r>
            <a:endParaRPr lang="en-US" sz="1200" dirty="0"/>
          </a:p>
        </p:txBody>
      </p:sp>
      <p:sp>
        <p:nvSpPr>
          <p:cNvPr id="14" name="Shape 11"/>
          <p:cNvSpPr/>
          <p:nvPr/>
        </p:nvSpPr>
        <p:spPr>
          <a:xfrm>
            <a:off x="5669280" y="2551176"/>
            <a:ext cx="594360" cy="329184"/>
          </a:xfrm>
          <a:prstGeom prst="rect">
            <a:avLst/>
          </a:prstGeom>
          <a:solidFill>
            <a:srgbClr val="1565C0"/>
          </a:solidFill>
          <a:ln w="10160">
            <a:solidFill>
              <a:srgbClr val="42A5F5"/>
            </a:solidFill>
            <a:prstDash val="solid"/>
          </a:ln>
        </p:spPr>
      </p:sp>
      <p:sp>
        <p:nvSpPr>
          <p:cNvPr id="15" name="Text 12"/>
          <p:cNvSpPr/>
          <p:nvPr/>
        </p:nvSpPr>
        <p:spPr>
          <a:xfrm>
            <a:off x="5669280" y="2551176"/>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ALU</a:t>
            </a:r>
            <a:endParaRPr lang="en-US" sz="1100" dirty="0"/>
          </a:p>
        </p:txBody>
      </p:sp>
      <p:sp>
        <p:nvSpPr>
          <p:cNvPr id="16" name="Text 13"/>
          <p:cNvSpPr/>
          <p:nvPr/>
        </p:nvSpPr>
        <p:spPr>
          <a:xfrm>
            <a:off x="6355080" y="2587752"/>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32-bit combinational arithmetic unit</a:t>
            </a:r>
            <a:endParaRPr lang="en-US" sz="1200" dirty="0"/>
          </a:p>
        </p:txBody>
      </p:sp>
      <p:sp>
        <p:nvSpPr>
          <p:cNvPr id="17" name="Shape 14"/>
          <p:cNvSpPr/>
          <p:nvPr/>
        </p:nvSpPr>
        <p:spPr>
          <a:xfrm>
            <a:off x="5669280" y="3081528"/>
            <a:ext cx="594360" cy="329184"/>
          </a:xfrm>
          <a:prstGeom prst="rect">
            <a:avLst/>
          </a:prstGeom>
          <a:solidFill>
            <a:srgbClr val="1565C0"/>
          </a:solidFill>
          <a:ln w="10160">
            <a:solidFill>
              <a:srgbClr val="42A5F5"/>
            </a:solidFill>
            <a:prstDash val="solid"/>
          </a:ln>
        </p:spPr>
      </p:sp>
      <p:sp>
        <p:nvSpPr>
          <p:cNvPr id="18" name="Text 15"/>
          <p:cNvSpPr/>
          <p:nvPr/>
        </p:nvSpPr>
        <p:spPr>
          <a:xfrm>
            <a:off x="5669280" y="3081528"/>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DMEM</a:t>
            </a:r>
            <a:endParaRPr lang="en-US" sz="1100" dirty="0"/>
          </a:p>
        </p:txBody>
      </p:sp>
      <p:sp>
        <p:nvSpPr>
          <p:cNvPr id="19" name="Text 16"/>
          <p:cNvSpPr/>
          <p:nvPr/>
        </p:nvSpPr>
        <p:spPr>
          <a:xfrm>
            <a:off x="6355080" y="3118104"/>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Data RAM, synchronous writes</a:t>
            </a:r>
            <a:endParaRPr lang="en-US" sz="1200" dirty="0"/>
          </a:p>
        </p:txBody>
      </p:sp>
      <p:sp>
        <p:nvSpPr>
          <p:cNvPr id="20" name="Shape 17"/>
          <p:cNvSpPr/>
          <p:nvPr/>
        </p:nvSpPr>
        <p:spPr>
          <a:xfrm>
            <a:off x="5669280" y="3611880"/>
            <a:ext cx="594360" cy="329184"/>
          </a:xfrm>
          <a:prstGeom prst="rect">
            <a:avLst/>
          </a:prstGeom>
          <a:solidFill>
            <a:srgbClr val="1565C0"/>
          </a:solidFill>
          <a:ln w="10160">
            <a:solidFill>
              <a:srgbClr val="42A5F5"/>
            </a:solidFill>
            <a:prstDash val="solid"/>
          </a:ln>
        </p:spPr>
      </p:sp>
      <p:sp>
        <p:nvSpPr>
          <p:cNvPr id="21" name="Text 18"/>
          <p:cNvSpPr/>
          <p:nvPr/>
        </p:nvSpPr>
        <p:spPr>
          <a:xfrm>
            <a:off x="5669280" y="3611880"/>
            <a:ext cx="594360" cy="329184"/>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Control</a:t>
            </a:r>
            <a:endParaRPr lang="en-US" sz="1100" dirty="0"/>
          </a:p>
        </p:txBody>
      </p:sp>
      <p:sp>
        <p:nvSpPr>
          <p:cNvPr id="22" name="Text 19"/>
          <p:cNvSpPr/>
          <p:nvPr/>
        </p:nvSpPr>
        <p:spPr>
          <a:xfrm>
            <a:off x="6355080" y="3648456"/>
            <a:ext cx="2651760" cy="292608"/>
          </a:xfrm>
          <a:prstGeom prst="rect">
            <a:avLst/>
          </a:prstGeom>
          <a:noFill/>
          <a:ln/>
        </p:spPr>
        <p:txBody>
          <a:bodyPr wrap="square" rtlCol="0" anchor="ctr"/>
          <a:lstStyle/>
          <a:p>
            <a:pPr marL="0" indent="0">
              <a:buNone/>
            </a:pPr>
            <a:r>
              <a:rPr lang="en-US" sz="1200" dirty="0">
                <a:solidFill>
                  <a:srgbClr val="42A5F5"/>
                </a:solidFill>
                <a:latin typeface="Calibri" pitchFamily="34" charset="0"/>
                <a:ea typeface="Calibri" pitchFamily="34" charset="-122"/>
                <a:cs typeface="Calibri" pitchFamily="34" charset="-120"/>
              </a:rPr>
              <a:t>Main decoder + ALU decoder</a:t>
            </a:r>
            <a:endParaRPr lang="en-US" sz="1200" dirty="0"/>
          </a:p>
        </p:txBody>
      </p:sp>
      <p:sp>
        <p:nvSpPr>
          <p:cNvPr id="23" name="Text 20"/>
          <p:cNvSpPr/>
          <p:nvPr/>
        </p:nvSpPr>
        <p:spPr>
          <a:xfrm>
            <a:off x="228600" y="4434840"/>
            <a:ext cx="5212080" cy="27432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Fig. 7.12 — Patterson &amp; Hennessy, RISC-V Edition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D"/>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Design Decisions &amp; Trade-offs</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sp>
        <p:nvSpPr>
          <p:cNvPr id="4" name="Shape 2"/>
          <p:cNvSpPr/>
          <p:nvPr/>
        </p:nvSpPr>
        <p:spPr>
          <a:xfrm>
            <a:off x="274320" y="914400"/>
            <a:ext cx="4160520" cy="1645920"/>
          </a:xfrm>
          <a:prstGeom prst="rect">
            <a:avLst/>
          </a:prstGeom>
          <a:solidFill>
            <a:srgbClr val="1B2A4A"/>
          </a:solidFill>
          <a:ln w="12700">
            <a:solidFill>
              <a:srgbClr val="42A5F5"/>
            </a:solidFill>
            <a:prstDash val="solid"/>
          </a:ln>
          <a:effectLst>
            <a:outerShdw blurRad="76200" dist="25400" dir="8100000" algn="bl" rotWithShape="0">
              <a:srgbClr val="000000">
                <a:alpha val="12000"/>
              </a:srgbClr>
            </a:outerShdw>
          </a:effectLst>
        </p:spPr>
      </p:sp>
      <p:sp>
        <p:nvSpPr>
          <p:cNvPr id="5" name="Text 3"/>
          <p:cNvSpPr/>
          <p:nvPr/>
        </p:nvSpPr>
        <p:spPr>
          <a:xfrm>
            <a:off x="411480" y="1005840"/>
            <a:ext cx="3840480" cy="292608"/>
          </a:xfrm>
          <a:prstGeom prst="rect">
            <a:avLst/>
          </a:prstGeom>
          <a:noFill/>
          <a:ln/>
        </p:spPr>
        <p:txBody>
          <a:bodyPr wrap="square" rtlCol="0" anchor="ctr"/>
          <a:lstStyle/>
          <a:p>
            <a:pPr marL="0" indent="0">
              <a:buNone/>
            </a:pPr>
            <a:r>
              <a:rPr lang="en-US" sz="1400" b="1" dirty="0">
                <a:solidFill>
                  <a:srgbClr val="FFD600"/>
                </a:solidFill>
                <a:latin typeface="Calibri" pitchFamily="34" charset="0"/>
                <a:ea typeface="Calibri" pitchFamily="34" charset="-122"/>
                <a:cs typeface="Calibri" pitchFamily="34" charset="-120"/>
              </a:rPr>
              <a:t>CPI = 1 (Single-Cycle)</a:t>
            </a:r>
            <a:endParaRPr lang="en-US" sz="1400" dirty="0"/>
          </a:p>
        </p:txBody>
      </p:sp>
      <p:sp>
        <p:nvSpPr>
          <p:cNvPr id="6" name="Text 4"/>
          <p:cNvSpPr/>
          <p:nvPr/>
        </p:nvSpPr>
        <p:spPr>
          <a:xfrm>
            <a:off x="411480" y="1325880"/>
            <a:ext cx="3886200" cy="502920"/>
          </a:xfrm>
          <a:prstGeom prst="rect">
            <a:avLst/>
          </a:prstGeom>
          <a:noFill/>
          <a:ln/>
        </p:spPr>
        <p:txBody>
          <a:bodyPr wrap="square" rtlCol="0" anchor="ctr"/>
          <a:lstStyle/>
          <a:p>
            <a:pPr marL="0" indent="0">
              <a:buNone/>
            </a:pPr>
            <a:r>
              <a:rPr lang="en-US" sz="1200" b="1" dirty="0">
                <a:solidFill>
                  <a:srgbClr val="69F0AE"/>
                </a:solidFill>
                <a:latin typeface="Calibri" pitchFamily="34" charset="0"/>
                <a:ea typeface="Calibri" pitchFamily="34" charset="-122"/>
                <a:cs typeface="Calibri" pitchFamily="34" charset="-120"/>
              </a:rPr>
              <a:t>✓ </a:t>
            </a:r>
            <a:r>
              <a:rPr lang="en-US" sz="1200" dirty="0">
                <a:solidFill>
                  <a:srgbClr val="FFFFFF"/>
                </a:solidFill>
                <a:latin typeface="Calibri" pitchFamily="34" charset="0"/>
                <a:ea typeface="Calibri" pitchFamily="34" charset="-122"/>
                <a:cs typeface="Calibri" pitchFamily="34" charset="-120"/>
              </a:rPr>
              <a:t>Every instruction completes in exactly 1 clock — hardware model matches software model perfectly.  </a:t>
            </a:r>
            <a:endParaRPr lang="en-US" sz="1200" dirty="0"/>
          </a:p>
        </p:txBody>
      </p:sp>
      <p:sp>
        <p:nvSpPr>
          <p:cNvPr id="7" name="Text 5"/>
          <p:cNvSpPr/>
          <p:nvPr/>
        </p:nvSpPr>
        <p:spPr>
          <a:xfrm>
            <a:off x="411480" y="1920240"/>
            <a:ext cx="3886200" cy="50292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 </a:t>
            </a:r>
            <a:r>
              <a:rPr lang="en-US" sz="1200" dirty="0">
                <a:solidFill>
                  <a:srgbClr val="90A4AE"/>
                </a:solidFill>
                <a:latin typeface="Calibri" pitchFamily="34" charset="0"/>
                <a:ea typeface="Calibri" pitchFamily="34" charset="-122"/>
                <a:cs typeface="Calibri" pitchFamily="34" charset="-120"/>
              </a:rPr>
              <a:t>Clock period constrained by critical path of LW: IMEM → RegFile → ALU → DMEM → WB Mux.</a:t>
            </a:r>
            <a:endParaRPr lang="en-US" sz="1200" dirty="0"/>
          </a:p>
        </p:txBody>
      </p:sp>
      <p:sp>
        <p:nvSpPr>
          <p:cNvPr id="8" name="Shape 6"/>
          <p:cNvSpPr/>
          <p:nvPr/>
        </p:nvSpPr>
        <p:spPr>
          <a:xfrm>
            <a:off x="4709160" y="914400"/>
            <a:ext cx="4160520" cy="1645920"/>
          </a:xfrm>
          <a:prstGeom prst="rect">
            <a:avLst/>
          </a:prstGeom>
          <a:solidFill>
            <a:srgbClr val="1B2A4A"/>
          </a:solidFill>
          <a:ln w="12700">
            <a:solidFill>
              <a:srgbClr val="42A5F5"/>
            </a:solidFill>
            <a:prstDash val="solid"/>
          </a:ln>
          <a:effectLst>
            <a:outerShdw blurRad="76200" dist="25400" dir="8100000" algn="bl" rotWithShape="0">
              <a:srgbClr val="000000">
                <a:alpha val="12000"/>
              </a:srgbClr>
            </a:outerShdw>
          </a:effectLst>
        </p:spPr>
      </p:sp>
      <p:sp>
        <p:nvSpPr>
          <p:cNvPr id="9" name="Text 7"/>
          <p:cNvSpPr/>
          <p:nvPr/>
        </p:nvSpPr>
        <p:spPr>
          <a:xfrm>
            <a:off x="4846320" y="1005840"/>
            <a:ext cx="3840480" cy="292608"/>
          </a:xfrm>
          <a:prstGeom prst="rect">
            <a:avLst/>
          </a:prstGeom>
          <a:noFill/>
          <a:ln/>
        </p:spPr>
        <p:txBody>
          <a:bodyPr wrap="square" rtlCol="0" anchor="ctr"/>
          <a:lstStyle/>
          <a:p>
            <a:pPr marL="0" indent="0">
              <a:buNone/>
            </a:pPr>
            <a:r>
              <a:rPr lang="en-US" sz="1400" b="1" dirty="0">
                <a:solidFill>
                  <a:srgbClr val="FFD600"/>
                </a:solidFill>
                <a:latin typeface="Calibri" pitchFamily="34" charset="0"/>
                <a:ea typeface="Calibri" pitchFamily="34" charset="-122"/>
                <a:cs typeface="Calibri" pitchFamily="34" charset="-120"/>
              </a:rPr>
              <a:t>Combinational Control Unit</a:t>
            </a:r>
            <a:endParaRPr lang="en-US" sz="1400" dirty="0"/>
          </a:p>
        </p:txBody>
      </p:sp>
      <p:sp>
        <p:nvSpPr>
          <p:cNvPr id="10" name="Text 8"/>
          <p:cNvSpPr/>
          <p:nvPr/>
        </p:nvSpPr>
        <p:spPr>
          <a:xfrm>
            <a:off x="4846320" y="1325880"/>
            <a:ext cx="3886200" cy="502920"/>
          </a:xfrm>
          <a:prstGeom prst="rect">
            <a:avLst/>
          </a:prstGeom>
          <a:noFill/>
          <a:ln/>
        </p:spPr>
        <p:txBody>
          <a:bodyPr wrap="square" rtlCol="0" anchor="ctr"/>
          <a:lstStyle/>
          <a:p>
            <a:pPr marL="0" indent="0">
              <a:buNone/>
            </a:pPr>
            <a:r>
              <a:rPr lang="en-US" sz="1200" b="1" dirty="0">
                <a:solidFill>
                  <a:srgbClr val="69F0AE"/>
                </a:solidFill>
                <a:latin typeface="Calibri" pitchFamily="34" charset="0"/>
                <a:ea typeface="Calibri" pitchFamily="34" charset="-122"/>
                <a:cs typeface="Calibri" pitchFamily="34" charset="-120"/>
              </a:rPr>
              <a:t>✓ </a:t>
            </a:r>
            <a:r>
              <a:rPr lang="en-US" sz="1200" dirty="0">
                <a:solidFill>
                  <a:srgbClr val="FFFFFF"/>
                </a:solidFill>
                <a:latin typeface="Calibri" pitchFamily="34" charset="0"/>
                <a:ea typeface="Calibri" pitchFamily="34" charset="-122"/>
                <a:cs typeface="Calibri" pitchFamily="34" charset="-120"/>
              </a:rPr>
              <a:t>No pipeline registers needed. Fully reactive to each instruction's opcode/funct fields.  </a:t>
            </a:r>
            <a:endParaRPr lang="en-US" sz="1200" dirty="0"/>
          </a:p>
        </p:txBody>
      </p:sp>
      <p:sp>
        <p:nvSpPr>
          <p:cNvPr id="11" name="Text 9"/>
          <p:cNvSpPr/>
          <p:nvPr/>
        </p:nvSpPr>
        <p:spPr>
          <a:xfrm>
            <a:off x="4846320" y="1920240"/>
            <a:ext cx="3886200" cy="50292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 </a:t>
            </a:r>
            <a:r>
              <a:rPr lang="en-US" sz="1200" dirty="0">
                <a:solidFill>
                  <a:srgbClr val="90A4AE"/>
                </a:solidFill>
                <a:latin typeface="Calibri" pitchFamily="34" charset="0"/>
                <a:ea typeface="Calibri" pitchFamily="34" charset="-122"/>
                <a:cs typeface="Calibri" pitchFamily="34" charset="-120"/>
              </a:rPr>
              <a:t>All control signals must propagate before clock edge. Long combinational chains increase timing slack.</a:t>
            </a:r>
            <a:endParaRPr lang="en-US" sz="1200" dirty="0"/>
          </a:p>
        </p:txBody>
      </p:sp>
      <p:sp>
        <p:nvSpPr>
          <p:cNvPr id="12" name="Shape 10"/>
          <p:cNvSpPr/>
          <p:nvPr/>
        </p:nvSpPr>
        <p:spPr>
          <a:xfrm>
            <a:off x="274320" y="2743200"/>
            <a:ext cx="4160520" cy="1645920"/>
          </a:xfrm>
          <a:prstGeom prst="rect">
            <a:avLst/>
          </a:prstGeom>
          <a:solidFill>
            <a:srgbClr val="1B2A4A"/>
          </a:solidFill>
          <a:ln w="12700">
            <a:solidFill>
              <a:srgbClr val="42A5F5"/>
            </a:solidFill>
            <a:prstDash val="solid"/>
          </a:ln>
          <a:effectLst>
            <a:outerShdw blurRad="76200" dist="25400" dir="8100000" algn="bl" rotWithShape="0">
              <a:srgbClr val="000000">
                <a:alpha val="12000"/>
              </a:srgbClr>
            </a:outerShdw>
          </a:effectLst>
        </p:spPr>
      </p:sp>
      <p:sp>
        <p:nvSpPr>
          <p:cNvPr id="13" name="Text 11"/>
          <p:cNvSpPr/>
          <p:nvPr/>
        </p:nvSpPr>
        <p:spPr>
          <a:xfrm>
            <a:off x="411480" y="2834640"/>
            <a:ext cx="3840480" cy="292608"/>
          </a:xfrm>
          <a:prstGeom prst="rect">
            <a:avLst/>
          </a:prstGeom>
          <a:noFill/>
          <a:ln/>
        </p:spPr>
        <p:txBody>
          <a:bodyPr wrap="square" rtlCol="0" anchor="ctr"/>
          <a:lstStyle/>
          <a:p>
            <a:pPr marL="0" indent="0">
              <a:buNone/>
            </a:pPr>
            <a:r>
              <a:rPr lang="en-US" sz="1400" b="1" dirty="0">
                <a:solidFill>
                  <a:srgbClr val="FFD600"/>
                </a:solidFill>
                <a:latin typeface="Calibri" pitchFamily="34" charset="0"/>
                <a:ea typeface="Calibri" pitchFamily="34" charset="-122"/>
                <a:cs typeface="Calibri" pitchFamily="34" charset="-120"/>
              </a:rPr>
              <a:t>Synchronous Writes / Async Reads</a:t>
            </a:r>
            <a:endParaRPr lang="en-US" sz="1400" dirty="0"/>
          </a:p>
        </p:txBody>
      </p:sp>
      <p:sp>
        <p:nvSpPr>
          <p:cNvPr id="14" name="Text 12"/>
          <p:cNvSpPr/>
          <p:nvPr/>
        </p:nvSpPr>
        <p:spPr>
          <a:xfrm>
            <a:off x="411480" y="3154680"/>
            <a:ext cx="3886200" cy="502920"/>
          </a:xfrm>
          <a:prstGeom prst="rect">
            <a:avLst/>
          </a:prstGeom>
          <a:noFill/>
          <a:ln/>
        </p:spPr>
        <p:txBody>
          <a:bodyPr wrap="square" rtlCol="0" anchor="ctr"/>
          <a:lstStyle/>
          <a:p>
            <a:pPr marL="0" indent="0">
              <a:buNone/>
            </a:pPr>
            <a:r>
              <a:rPr lang="en-US" sz="1200" b="1" dirty="0">
                <a:solidFill>
                  <a:srgbClr val="69F0AE"/>
                </a:solidFill>
                <a:latin typeface="Calibri" pitchFamily="34" charset="0"/>
                <a:ea typeface="Calibri" pitchFamily="34" charset="-122"/>
                <a:cs typeface="Calibri" pitchFamily="34" charset="-120"/>
              </a:rPr>
              <a:t>✓ </a:t>
            </a:r>
            <a:r>
              <a:rPr lang="en-US" sz="1200" dirty="0">
                <a:solidFill>
                  <a:srgbClr val="FFFFFF"/>
                </a:solidFill>
                <a:latin typeface="Calibri" pitchFamily="34" charset="0"/>
                <a:ea typeface="Calibri" pitchFamily="34" charset="-122"/>
                <a:cs typeface="Calibri" pitchFamily="34" charset="-120"/>
              </a:rPr>
              <a:t>Guarantees read-then-write ordering per cycle. Eliminates RAW hazards in single-cycle.  </a:t>
            </a:r>
            <a:endParaRPr lang="en-US" sz="1200" dirty="0"/>
          </a:p>
        </p:txBody>
      </p:sp>
      <p:sp>
        <p:nvSpPr>
          <p:cNvPr id="15" name="Text 13"/>
          <p:cNvSpPr/>
          <p:nvPr/>
        </p:nvSpPr>
        <p:spPr>
          <a:xfrm>
            <a:off x="411480" y="3749040"/>
            <a:ext cx="3886200" cy="50292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 </a:t>
            </a:r>
            <a:r>
              <a:rPr lang="en-US" sz="1200" dirty="0">
                <a:solidFill>
                  <a:srgbClr val="90A4AE"/>
                </a:solidFill>
                <a:latin typeface="Calibri" pitchFamily="34" charset="0"/>
                <a:ea typeface="Calibri" pitchFamily="34" charset="-122"/>
                <a:cs typeface="Calibri" pitchFamily="34" charset="-120"/>
              </a:rPr>
              <a:t>Write data is NOT available to read in the same clock cycle (by design, acceptable here).</a:t>
            </a:r>
            <a:endParaRPr lang="en-US" sz="1200" dirty="0"/>
          </a:p>
        </p:txBody>
      </p:sp>
      <p:sp>
        <p:nvSpPr>
          <p:cNvPr id="16" name="Shape 14"/>
          <p:cNvSpPr/>
          <p:nvPr/>
        </p:nvSpPr>
        <p:spPr>
          <a:xfrm>
            <a:off x="4709160" y="2743200"/>
            <a:ext cx="4160520" cy="1645920"/>
          </a:xfrm>
          <a:prstGeom prst="rect">
            <a:avLst/>
          </a:prstGeom>
          <a:solidFill>
            <a:srgbClr val="1B2A4A"/>
          </a:solidFill>
          <a:ln w="12700">
            <a:solidFill>
              <a:srgbClr val="42A5F5"/>
            </a:solidFill>
            <a:prstDash val="solid"/>
          </a:ln>
          <a:effectLst>
            <a:outerShdw blurRad="76200" dist="25400" dir="8100000" algn="bl" rotWithShape="0">
              <a:srgbClr val="000000">
                <a:alpha val="12000"/>
              </a:srgbClr>
            </a:outerShdw>
          </a:effectLst>
        </p:spPr>
      </p:sp>
      <p:sp>
        <p:nvSpPr>
          <p:cNvPr id="17" name="Text 15"/>
          <p:cNvSpPr/>
          <p:nvPr/>
        </p:nvSpPr>
        <p:spPr>
          <a:xfrm>
            <a:off x="4846320" y="2834640"/>
            <a:ext cx="3840480" cy="292608"/>
          </a:xfrm>
          <a:prstGeom prst="rect">
            <a:avLst/>
          </a:prstGeom>
          <a:noFill/>
          <a:ln/>
        </p:spPr>
        <p:txBody>
          <a:bodyPr wrap="square" rtlCol="0" anchor="ctr"/>
          <a:lstStyle/>
          <a:p>
            <a:pPr marL="0" indent="0">
              <a:buNone/>
            </a:pPr>
            <a:r>
              <a:rPr lang="en-US" sz="1400" b="1" dirty="0">
                <a:solidFill>
                  <a:srgbClr val="FFD600"/>
                </a:solidFill>
                <a:latin typeface="Calibri" pitchFamily="34" charset="0"/>
                <a:ea typeface="Calibri" pitchFamily="34" charset="-122"/>
                <a:cs typeface="Calibri" pitchFamily="34" charset="-120"/>
              </a:rPr>
              <a:t>x0 Hardwired to Zero</a:t>
            </a:r>
            <a:endParaRPr lang="en-US" sz="1400" dirty="0"/>
          </a:p>
        </p:txBody>
      </p:sp>
      <p:sp>
        <p:nvSpPr>
          <p:cNvPr id="18" name="Text 16"/>
          <p:cNvSpPr/>
          <p:nvPr/>
        </p:nvSpPr>
        <p:spPr>
          <a:xfrm>
            <a:off x="4846320" y="3154680"/>
            <a:ext cx="3886200" cy="502920"/>
          </a:xfrm>
          <a:prstGeom prst="rect">
            <a:avLst/>
          </a:prstGeom>
          <a:noFill/>
          <a:ln/>
        </p:spPr>
        <p:txBody>
          <a:bodyPr wrap="square" rtlCol="0" anchor="ctr"/>
          <a:lstStyle/>
          <a:p>
            <a:pPr marL="0" indent="0">
              <a:buNone/>
            </a:pPr>
            <a:r>
              <a:rPr lang="en-US" sz="1200" b="1" dirty="0">
                <a:solidFill>
                  <a:srgbClr val="69F0AE"/>
                </a:solidFill>
                <a:latin typeface="Calibri" pitchFamily="34" charset="0"/>
                <a:ea typeface="Calibri" pitchFamily="34" charset="-122"/>
                <a:cs typeface="Calibri" pitchFamily="34" charset="-120"/>
              </a:rPr>
              <a:t>✓ </a:t>
            </a:r>
            <a:r>
              <a:rPr lang="en-US" sz="1200" dirty="0">
                <a:solidFill>
                  <a:srgbClr val="FFFFFF"/>
                </a:solidFill>
                <a:latin typeface="Calibri" pitchFamily="34" charset="0"/>
                <a:ea typeface="Calibri" pitchFamily="34" charset="-122"/>
                <a:cs typeface="Calibri" pitchFamily="34" charset="-120"/>
              </a:rPr>
              <a:t>Eliminates need for a dedicated MOVE instruction. Enables li, mv, nop pseudo-instructions.  </a:t>
            </a:r>
            <a:endParaRPr lang="en-US" sz="1200" dirty="0"/>
          </a:p>
        </p:txBody>
      </p:sp>
      <p:sp>
        <p:nvSpPr>
          <p:cNvPr id="19" name="Text 17"/>
          <p:cNvSpPr/>
          <p:nvPr/>
        </p:nvSpPr>
        <p:spPr>
          <a:xfrm>
            <a:off x="4846320" y="3749040"/>
            <a:ext cx="3886200" cy="50292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 </a:t>
            </a:r>
            <a:r>
              <a:rPr lang="en-US" sz="1200" dirty="0">
                <a:solidFill>
                  <a:srgbClr val="90A4AE"/>
                </a:solidFill>
                <a:latin typeface="Calibri" pitchFamily="34" charset="0"/>
                <a:ea typeface="Calibri" pitchFamily="34" charset="-122"/>
                <a:cs typeface="Calibri" pitchFamily="34" charset="-120"/>
              </a:rPr>
              <a:t>Write port must check A3≠0 every cycle (minimal hardware overhead).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42A5F5"/>
                </a:solidFill>
                <a:latin typeface="Calibri" pitchFamily="34" charset="0"/>
                <a:ea typeface="Calibri" pitchFamily="34" charset="-122"/>
                <a:cs typeface="Calibri" pitchFamily="34" charset="-120"/>
              </a:rPr>
              <a:t>Key Verilog Modules</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sp>
        <p:nvSpPr>
          <p:cNvPr id="4" name="Text 2"/>
          <p:cNvSpPr/>
          <p:nvPr/>
        </p:nvSpPr>
        <p:spPr>
          <a:xfrm>
            <a:off x="274320" y="868680"/>
            <a:ext cx="4114800" cy="274320"/>
          </a:xfrm>
          <a:prstGeom prst="rect">
            <a:avLst/>
          </a:prstGeom>
          <a:noFill/>
          <a:ln/>
        </p:spPr>
        <p:txBody>
          <a:bodyPr wrap="square" rtlCol="0" anchor="ctr"/>
          <a:lstStyle/>
          <a:p>
            <a:pPr marL="0" indent="0">
              <a:buNone/>
            </a:pPr>
            <a:r>
              <a:rPr lang="en-US" sz="1300" b="1" dirty="0">
                <a:solidFill>
                  <a:srgbClr val="00ACC1"/>
                </a:solidFill>
                <a:latin typeface="Calibri" pitchFamily="34" charset="0"/>
                <a:ea typeface="Calibri" pitchFamily="34" charset="-122"/>
                <a:cs typeface="Calibri" pitchFamily="34" charset="-120"/>
              </a:rPr>
              <a:t>Control Unit — Main Decoder (excerpt)</a:t>
            </a:r>
            <a:endParaRPr lang="en-US" sz="1300" dirty="0"/>
          </a:p>
        </p:txBody>
      </p:sp>
      <p:sp>
        <p:nvSpPr>
          <p:cNvPr id="5" name="Shape 3"/>
          <p:cNvSpPr/>
          <p:nvPr/>
        </p:nvSpPr>
        <p:spPr>
          <a:xfrm>
            <a:off x="274320" y="1170432"/>
            <a:ext cx="4160520" cy="2194560"/>
          </a:xfrm>
          <a:prstGeom prst="rect">
            <a:avLst/>
          </a:prstGeom>
          <a:solidFill>
            <a:srgbClr val="0A0E1A"/>
          </a:solidFill>
          <a:ln w="19050">
            <a:solidFill>
              <a:srgbClr val="00ACC1"/>
            </a:solidFill>
            <a:prstDash val="solid"/>
          </a:ln>
        </p:spPr>
      </p:sp>
      <p:sp>
        <p:nvSpPr>
          <p:cNvPr id="6" name="Text 4"/>
          <p:cNvSpPr/>
          <p:nvPr/>
        </p:nvSpPr>
        <p:spPr>
          <a:xfrm>
            <a:off x="384048" y="1261872"/>
            <a:ext cx="3941064" cy="2011680"/>
          </a:xfrm>
          <a:prstGeom prst="rect">
            <a:avLst/>
          </a:prstGeom>
          <a:noFill/>
          <a:ln/>
        </p:spPr>
        <p:txBody>
          <a:bodyPr wrap="square" rtlCol="0" anchor="ctr"/>
          <a:lstStyle/>
          <a:p>
            <a:pPr marL="0" indent="0">
              <a:buNone/>
            </a:pPr>
            <a:r>
              <a:rPr lang="en-US" sz="1050" dirty="0">
                <a:solidFill>
                  <a:srgbClr val="A8D8F0"/>
                </a:solidFill>
                <a:latin typeface="Consolas" pitchFamily="34" charset="0"/>
                <a:ea typeface="Consolas" pitchFamily="34" charset="-122"/>
                <a:cs typeface="Consolas" pitchFamily="34" charset="-120"/>
              </a:rPr>
              <a:t>case (op)</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7'b0110011: // R-type</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{RegWrite, ALUSrc, MemWrite,</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ResultSrc, Branch, ALUOp}</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 9'b1_0_0_00_0_10;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7'b0000011: // LW</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 9'b1_1_0_01_0_00;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7'b1100011: // BEQ</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 9'b0_0_0_00_1_01;</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endcase</a:t>
            </a:r>
            <a:endParaRPr lang="en-US" sz="1050" dirty="0"/>
          </a:p>
        </p:txBody>
      </p:sp>
      <p:sp>
        <p:nvSpPr>
          <p:cNvPr id="7" name="Text 5"/>
          <p:cNvSpPr/>
          <p:nvPr/>
        </p:nvSpPr>
        <p:spPr>
          <a:xfrm>
            <a:off x="4709160" y="868680"/>
            <a:ext cx="4114800" cy="274320"/>
          </a:xfrm>
          <a:prstGeom prst="rect">
            <a:avLst/>
          </a:prstGeom>
          <a:noFill/>
          <a:ln/>
        </p:spPr>
        <p:txBody>
          <a:bodyPr wrap="square" rtlCol="0" anchor="ctr"/>
          <a:lstStyle/>
          <a:p>
            <a:pPr marL="0" indent="0">
              <a:buNone/>
            </a:pPr>
            <a:r>
              <a:rPr lang="en-US" sz="1300" b="1" dirty="0">
                <a:solidFill>
                  <a:srgbClr val="00ACC1"/>
                </a:solidFill>
                <a:latin typeface="Calibri" pitchFamily="34" charset="0"/>
                <a:ea typeface="Calibri" pitchFamily="34" charset="-122"/>
                <a:cs typeface="Calibri" pitchFamily="34" charset="-120"/>
              </a:rPr>
              <a:t>ALU — Operation Selection</a:t>
            </a:r>
            <a:endParaRPr lang="en-US" sz="1300" dirty="0"/>
          </a:p>
        </p:txBody>
      </p:sp>
      <p:sp>
        <p:nvSpPr>
          <p:cNvPr id="8" name="Shape 6"/>
          <p:cNvSpPr/>
          <p:nvPr/>
        </p:nvSpPr>
        <p:spPr>
          <a:xfrm>
            <a:off x="4709160" y="1170432"/>
            <a:ext cx="4160520" cy="2194560"/>
          </a:xfrm>
          <a:prstGeom prst="rect">
            <a:avLst/>
          </a:prstGeom>
          <a:solidFill>
            <a:srgbClr val="0A0E1A"/>
          </a:solidFill>
          <a:ln w="19050">
            <a:solidFill>
              <a:srgbClr val="00ACC1"/>
            </a:solidFill>
            <a:prstDash val="solid"/>
          </a:ln>
        </p:spPr>
      </p:sp>
      <p:sp>
        <p:nvSpPr>
          <p:cNvPr id="9" name="Text 7"/>
          <p:cNvSpPr/>
          <p:nvPr/>
        </p:nvSpPr>
        <p:spPr>
          <a:xfrm>
            <a:off x="4818888" y="1261872"/>
            <a:ext cx="3941064" cy="2011680"/>
          </a:xfrm>
          <a:prstGeom prst="rect">
            <a:avLst/>
          </a:prstGeom>
          <a:noFill/>
          <a:ln/>
        </p:spPr>
        <p:txBody>
          <a:bodyPr wrap="square" rtlCol="0" anchor="ctr"/>
          <a:lstStyle/>
          <a:p>
            <a:pPr marL="0" indent="0">
              <a:buNone/>
            </a:pPr>
            <a:r>
              <a:rPr lang="en-US" sz="1050" dirty="0">
                <a:solidFill>
                  <a:srgbClr val="A8D8F0"/>
                </a:solidFill>
                <a:latin typeface="Consolas" pitchFamily="34" charset="0"/>
                <a:ea typeface="Consolas" pitchFamily="34" charset="-122"/>
                <a:cs typeface="Consolas" pitchFamily="34" charset="-120"/>
              </a:rPr>
              <a:t>case (ALUControl)</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4'b0000: ALUResult = A + B; // ADD</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4'b0001: ALUResult = A - B; // SUB</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4'b0010: ALUResult = A &amp; B; // AND</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4'b0011: ALUResult = A | B; // OR</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4'b0100: ALUResult = A ^ B; // XOR</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4'b0101: ALUResult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($signed(A) &lt; $signed(B))?1:0;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4'b0110: ALUResult = A &lt;&lt; B[4:0];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endcase</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3493008"/>
          <a:ext cx="8595360" cy="2072640"/>
        </p:xfrm>
        <a:graphic>
          <a:graphicData uri="http://schemas.openxmlformats.org/drawingml/2006/table">
            <a:tbl>
              <a:tblPr/>
              <a:tblGrid>
                <a:gridCol w="1645920"/>
                <a:gridCol w="1828800"/>
                <a:gridCol w="5120640"/>
              </a:tblGrid>
              <a:tr h="194310">
                <a:tc>
                  <a:txBody>
                    <a:bodyPr/>
                    <a:lstStyle/>
                    <a:p>
                      <a:pPr marL="0" indent="0">
                        <a:buNone/>
                      </a:pPr>
                      <a:r>
                        <a:rPr lang="en-US" sz="1100" b="1" dirty="0">
                          <a:solidFill>
                            <a:srgbClr val="0D1B2A"/>
                          </a:solidFill>
                          <a:latin typeface="Calibri" pitchFamily="34" charset="0"/>
                          <a:ea typeface="Calibri" pitchFamily="34" charset="-122"/>
                          <a:cs typeface="Calibri" pitchFamily="34" charset="-120"/>
                        </a:rPr>
                        <a:t>Module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c>
                  <a:txBody>
                    <a:bodyPr/>
                    <a:lstStyle/>
                    <a:p>
                      <a:pPr marL="0" indent="0">
                        <a:buNone/>
                      </a:pPr>
                      <a:r>
                        <a:rPr lang="en-US" sz="1100" b="1" dirty="0">
                          <a:solidFill>
                            <a:srgbClr val="0D1B2A"/>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c>
                  <a:txBody>
                    <a:bodyPr/>
                    <a:lstStyle/>
                    <a:p>
                      <a:pPr marL="0" indent="0">
                        <a:buNone/>
                      </a:pPr>
                      <a:r>
                        <a:rPr lang="en-US" sz="1100" b="1" dirty="0">
                          <a:solidFill>
                            <a:srgbClr val="0D1B2A"/>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riscv_top</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riscv_top.v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Top-level structural shell</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control_unit</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control_unit.v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Main + ALU decoder</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datapath</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datapath.v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All datapath components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alu</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alu.v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32-bit combinational ALU</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regfile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regfile.v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32×32 register array</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dmem</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dmem.v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Data memory (sync write)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r>
              <a:tr h="194310">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processor_tb</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processor_tb.v</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alibri" pitchFamily="34" charset="0"/>
                          <a:ea typeface="Calibri" pitchFamily="34" charset="-122"/>
                          <a:cs typeface="Calibri" pitchFamily="34" charset="-120"/>
                        </a:rPr>
                        <a:t>Simulation testbench</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42A5F5"/>
                </a:solidFill>
                <a:latin typeface="Calibri" pitchFamily="34" charset="0"/>
                <a:ea typeface="Calibri" pitchFamily="34" charset="-122"/>
                <a:cs typeface="Calibri" pitchFamily="34" charset="-120"/>
              </a:rPr>
              <a:t>Simulation Results — Control Unit Signals</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pic>
        <p:nvPicPr>
          <p:cNvPr id="4" name="Image 0" descr="preencoded.png"/>
          <p:cNvPicPr>
            <a:picLocks noChangeAspect="1"/>
          </p:cNvPicPr>
          <p:nvPr/>
        </p:nvPicPr>
        <p:blipFill>
          <a:blip r:embed="rId3"/>
          <a:stretch>
            <a:fillRect/>
          </a:stretch>
        </p:blipFill>
        <p:spPr>
          <a:xfrm>
            <a:off x="182880" y="868680"/>
            <a:ext cx="8778240" cy="2743200"/>
          </a:xfrm>
          <a:prstGeom prst="rect">
            <a:avLst/>
          </a:prstGeom>
        </p:spPr>
      </p:pic>
      <p:sp>
        <p:nvSpPr>
          <p:cNvPr id="5" name="Shape 2"/>
          <p:cNvSpPr/>
          <p:nvPr/>
        </p:nvSpPr>
        <p:spPr>
          <a:xfrm>
            <a:off x="182880" y="3703320"/>
            <a:ext cx="2011680" cy="640080"/>
          </a:xfrm>
          <a:prstGeom prst="rect">
            <a:avLst/>
          </a:prstGeom>
          <a:solidFill>
            <a:srgbClr val="1565C0">
              <a:alpha val="80000"/>
            </a:srgbClr>
          </a:solidFill>
          <a:ln w="12700">
            <a:solidFill>
              <a:srgbClr val="42A5F5"/>
            </a:solidFill>
            <a:prstDash val="solid"/>
          </a:ln>
        </p:spPr>
      </p:sp>
      <p:sp>
        <p:nvSpPr>
          <p:cNvPr id="6" name="Text 3"/>
          <p:cNvSpPr/>
          <p:nvPr/>
        </p:nvSpPr>
        <p:spPr>
          <a:xfrm>
            <a:off x="256032" y="3739896"/>
            <a:ext cx="1865376" cy="256032"/>
          </a:xfrm>
          <a:prstGeom prst="rect">
            <a:avLst/>
          </a:prstGeom>
          <a:noFill/>
          <a:ln/>
        </p:spPr>
        <p:txBody>
          <a:bodyPr wrap="square" rtlCol="0" anchor="ctr"/>
          <a:lstStyle/>
          <a:p>
            <a:pPr marL="0" indent="0">
              <a:buNone/>
            </a:pPr>
            <a:r>
              <a:rPr lang="en-US" sz="1200" b="1" dirty="0">
                <a:solidFill>
                  <a:srgbClr val="FFD600"/>
                </a:solidFill>
                <a:latin typeface="Calibri" pitchFamily="34" charset="0"/>
                <a:ea typeface="Calibri" pitchFamily="34" charset="-122"/>
                <a:cs typeface="Calibri" pitchFamily="34" charset="-120"/>
              </a:rPr>
              <a:t>PC = 0x58</a:t>
            </a:r>
            <a:endParaRPr lang="en-US" sz="1200" dirty="0"/>
          </a:p>
        </p:txBody>
      </p:sp>
      <p:sp>
        <p:nvSpPr>
          <p:cNvPr id="7" name="Text 4"/>
          <p:cNvSpPr/>
          <p:nvPr/>
        </p:nvSpPr>
        <p:spPr>
          <a:xfrm>
            <a:off x="256032" y="4023360"/>
            <a:ext cx="1865376"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Instr #22 — all 22 fetched correctly</a:t>
            </a:r>
            <a:endParaRPr lang="en-US" sz="1000" dirty="0"/>
          </a:p>
        </p:txBody>
      </p:sp>
      <p:sp>
        <p:nvSpPr>
          <p:cNvPr id="8" name="Shape 5"/>
          <p:cNvSpPr/>
          <p:nvPr/>
        </p:nvSpPr>
        <p:spPr>
          <a:xfrm>
            <a:off x="2331720" y="3703320"/>
            <a:ext cx="2011680" cy="640080"/>
          </a:xfrm>
          <a:prstGeom prst="rect">
            <a:avLst/>
          </a:prstGeom>
          <a:solidFill>
            <a:srgbClr val="1565C0">
              <a:alpha val="80000"/>
            </a:srgbClr>
          </a:solidFill>
          <a:ln w="12700">
            <a:solidFill>
              <a:srgbClr val="42A5F5"/>
            </a:solidFill>
            <a:prstDash val="solid"/>
          </a:ln>
        </p:spPr>
      </p:sp>
      <p:sp>
        <p:nvSpPr>
          <p:cNvPr id="9" name="Text 6"/>
          <p:cNvSpPr/>
          <p:nvPr/>
        </p:nvSpPr>
        <p:spPr>
          <a:xfrm>
            <a:off x="2404872" y="3739896"/>
            <a:ext cx="1865376" cy="256032"/>
          </a:xfrm>
          <a:prstGeom prst="rect">
            <a:avLst/>
          </a:prstGeom>
          <a:noFill/>
          <a:ln/>
        </p:spPr>
        <p:txBody>
          <a:bodyPr wrap="square" rtlCol="0" anchor="ctr"/>
          <a:lstStyle/>
          <a:p>
            <a:pPr marL="0" indent="0">
              <a:buNone/>
            </a:pPr>
            <a:r>
              <a:rPr lang="en-US" sz="1200" b="1" dirty="0">
                <a:solidFill>
                  <a:srgbClr val="FFD600"/>
                </a:solidFill>
                <a:latin typeface="Calibri" pitchFamily="34" charset="0"/>
                <a:ea typeface="Calibri" pitchFamily="34" charset="-122"/>
                <a:cs typeface="Calibri" pitchFamily="34" charset="-120"/>
              </a:rPr>
              <a:t>RegWrite = 0</a:t>
            </a:r>
            <a:endParaRPr lang="en-US" sz="1200" dirty="0"/>
          </a:p>
        </p:txBody>
      </p:sp>
      <p:sp>
        <p:nvSpPr>
          <p:cNvPr id="10" name="Text 7"/>
          <p:cNvSpPr/>
          <p:nvPr/>
        </p:nvSpPr>
        <p:spPr>
          <a:xfrm>
            <a:off x="2404872" y="4023360"/>
            <a:ext cx="1865376"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SW does NOT write register</a:t>
            </a:r>
            <a:endParaRPr lang="en-US" sz="1000" dirty="0"/>
          </a:p>
        </p:txBody>
      </p:sp>
      <p:sp>
        <p:nvSpPr>
          <p:cNvPr id="11" name="Shape 8"/>
          <p:cNvSpPr/>
          <p:nvPr/>
        </p:nvSpPr>
        <p:spPr>
          <a:xfrm>
            <a:off x="4480560" y="3703320"/>
            <a:ext cx="2011680" cy="640080"/>
          </a:xfrm>
          <a:prstGeom prst="rect">
            <a:avLst/>
          </a:prstGeom>
          <a:solidFill>
            <a:srgbClr val="1565C0">
              <a:alpha val="80000"/>
            </a:srgbClr>
          </a:solidFill>
          <a:ln w="12700">
            <a:solidFill>
              <a:srgbClr val="42A5F5"/>
            </a:solidFill>
            <a:prstDash val="solid"/>
          </a:ln>
        </p:spPr>
      </p:sp>
      <p:sp>
        <p:nvSpPr>
          <p:cNvPr id="12" name="Text 9"/>
          <p:cNvSpPr/>
          <p:nvPr/>
        </p:nvSpPr>
        <p:spPr>
          <a:xfrm>
            <a:off x="4553712" y="3739896"/>
            <a:ext cx="1865376" cy="256032"/>
          </a:xfrm>
          <a:prstGeom prst="rect">
            <a:avLst/>
          </a:prstGeom>
          <a:noFill/>
          <a:ln/>
        </p:spPr>
        <p:txBody>
          <a:bodyPr wrap="square" rtlCol="0" anchor="ctr"/>
          <a:lstStyle/>
          <a:p>
            <a:pPr marL="0" indent="0">
              <a:buNone/>
            </a:pPr>
            <a:r>
              <a:rPr lang="en-US" sz="1200" b="1" dirty="0">
                <a:solidFill>
                  <a:srgbClr val="FFD600"/>
                </a:solidFill>
                <a:latin typeface="Calibri" pitchFamily="34" charset="0"/>
                <a:ea typeface="Calibri" pitchFamily="34" charset="-122"/>
                <a:cs typeface="Calibri" pitchFamily="34" charset="-120"/>
              </a:rPr>
              <a:t>MemWrite = 1</a:t>
            </a:r>
            <a:endParaRPr lang="en-US" sz="1200" dirty="0"/>
          </a:p>
        </p:txBody>
      </p:sp>
      <p:sp>
        <p:nvSpPr>
          <p:cNvPr id="13" name="Text 10"/>
          <p:cNvSpPr/>
          <p:nvPr/>
        </p:nvSpPr>
        <p:spPr>
          <a:xfrm>
            <a:off x="4553712" y="4023360"/>
            <a:ext cx="1865376"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SW writes data memory ✓</a:t>
            </a:r>
            <a:endParaRPr lang="en-US" sz="1000" dirty="0"/>
          </a:p>
        </p:txBody>
      </p:sp>
      <p:sp>
        <p:nvSpPr>
          <p:cNvPr id="14" name="Shape 11"/>
          <p:cNvSpPr/>
          <p:nvPr/>
        </p:nvSpPr>
        <p:spPr>
          <a:xfrm>
            <a:off x="6629400" y="3703320"/>
            <a:ext cx="2331720" cy="640080"/>
          </a:xfrm>
          <a:prstGeom prst="rect">
            <a:avLst/>
          </a:prstGeom>
          <a:solidFill>
            <a:srgbClr val="1565C0">
              <a:alpha val="80000"/>
            </a:srgbClr>
          </a:solidFill>
          <a:ln w="12700">
            <a:solidFill>
              <a:srgbClr val="42A5F5"/>
            </a:solidFill>
            <a:prstDash val="solid"/>
          </a:ln>
        </p:spPr>
      </p:sp>
      <p:sp>
        <p:nvSpPr>
          <p:cNvPr id="15" name="Text 12"/>
          <p:cNvSpPr/>
          <p:nvPr/>
        </p:nvSpPr>
        <p:spPr>
          <a:xfrm>
            <a:off x="6702552" y="3739896"/>
            <a:ext cx="2185416" cy="256032"/>
          </a:xfrm>
          <a:prstGeom prst="rect">
            <a:avLst/>
          </a:prstGeom>
          <a:noFill/>
          <a:ln/>
        </p:spPr>
        <p:txBody>
          <a:bodyPr wrap="square" rtlCol="0" anchor="ctr"/>
          <a:lstStyle/>
          <a:p>
            <a:pPr marL="0" indent="0">
              <a:buNone/>
            </a:pPr>
            <a:r>
              <a:rPr lang="en-US" sz="1200" b="1" dirty="0">
                <a:solidFill>
                  <a:srgbClr val="FFD600"/>
                </a:solidFill>
                <a:latin typeface="Calibri" pitchFamily="34" charset="0"/>
                <a:ea typeface="Calibri" pitchFamily="34" charset="-122"/>
                <a:cs typeface="Calibri" pitchFamily="34" charset="-120"/>
              </a:rPr>
              <a:t>ALUSrc = 1</a:t>
            </a:r>
            <a:endParaRPr lang="en-US" sz="1200" dirty="0"/>
          </a:p>
        </p:txBody>
      </p:sp>
      <p:sp>
        <p:nvSpPr>
          <p:cNvPr id="16" name="Text 13"/>
          <p:cNvSpPr/>
          <p:nvPr/>
        </p:nvSpPr>
        <p:spPr>
          <a:xfrm>
            <a:off x="6702552" y="4023360"/>
            <a:ext cx="2185416"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S-type imm used as SrcB</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42A5F5"/>
                </a:solidFill>
                <a:latin typeface="Calibri" pitchFamily="34" charset="0"/>
                <a:ea typeface="Calibri" pitchFamily="34" charset="-122"/>
                <a:cs typeface="Calibri" pitchFamily="34" charset="-120"/>
              </a:rPr>
              <a:t>Simulation Results — ALU &amp; Memory Signals</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pic>
        <p:nvPicPr>
          <p:cNvPr id="4" name="Image 0" descr="preencoded.png"/>
          <p:cNvPicPr>
            <a:picLocks noChangeAspect="1"/>
          </p:cNvPicPr>
          <p:nvPr/>
        </p:nvPicPr>
        <p:blipFill>
          <a:blip r:embed="rId3"/>
          <a:stretch>
            <a:fillRect/>
          </a:stretch>
        </p:blipFill>
        <p:spPr>
          <a:xfrm>
            <a:off x="182880" y="868680"/>
            <a:ext cx="8778240" cy="2606040"/>
          </a:xfrm>
          <a:prstGeom prst="rect">
            <a:avLst/>
          </a:prstGeom>
        </p:spPr>
      </p:pic>
      <p:sp>
        <p:nvSpPr>
          <p:cNvPr id="5" name="Shape 2"/>
          <p:cNvSpPr/>
          <p:nvPr/>
        </p:nvSpPr>
        <p:spPr>
          <a:xfrm>
            <a:off x="182880" y="3566160"/>
            <a:ext cx="2651760" cy="1325880"/>
          </a:xfrm>
          <a:prstGeom prst="rect">
            <a:avLst/>
          </a:prstGeom>
          <a:solidFill>
            <a:srgbClr val="1B2A4A"/>
          </a:solidFill>
          <a:ln w="15240">
            <a:solidFill>
              <a:srgbClr val="00ACC1"/>
            </a:solidFill>
            <a:prstDash val="solid"/>
          </a:ln>
        </p:spPr>
      </p:sp>
      <p:sp>
        <p:nvSpPr>
          <p:cNvPr id="6" name="Text 3"/>
          <p:cNvSpPr/>
          <p:nvPr/>
        </p:nvSpPr>
        <p:spPr>
          <a:xfrm>
            <a:off x="274320" y="3639312"/>
            <a:ext cx="2468880" cy="256032"/>
          </a:xfrm>
          <a:prstGeom prst="rect">
            <a:avLst/>
          </a:prstGeom>
          <a:noFill/>
          <a:ln/>
        </p:spPr>
        <p:txBody>
          <a:bodyPr wrap="square" rtlCol="0" anchor="ctr"/>
          <a:lstStyle/>
          <a:p>
            <a:pPr marL="0" indent="0">
              <a:buNone/>
            </a:pPr>
            <a:r>
              <a:rPr lang="en-US" sz="1300" b="1" dirty="0">
                <a:solidFill>
                  <a:srgbClr val="FFD600"/>
                </a:solidFill>
                <a:latin typeface="Calibri" pitchFamily="34" charset="0"/>
                <a:ea typeface="Calibri" pitchFamily="34" charset="-122"/>
                <a:cs typeface="Calibri" pitchFamily="34" charset="-120"/>
              </a:rPr>
              <a:t>ADD x3, x1, x2</a:t>
            </a:r>
            <a:endParaRPr lang="en-US" sz="1300" dirty="0"/>
          </a:p>
        </p:txBody>
      </p:sp>
      <p:sp>
        <p:nvSpPr>
          <p:cNvPr id="7" name="Text 4"/>
          <p:cNvSpPr/>
          <p:nvPr/>
        </p:nvSpPr>
        <p:spPr>
          <a:xfrm>
            <a:off x="274320" y="3931920"/>
            <a:ext cx="2468880" cy="868680"/>
          </a:xfrm>
          <a:prstGeom prst="rect">
            <a:avLst/>
          </a:prstGeom>
          <a:noFill/>
          <a:ln/>
        </p:spPr>
        <p:txBody>
          <a:bodyPr wrap="square" rtlCol="0" anchor="ctr"/>
          <a:lstStyle/>
          <a:p>
            <a:pPr marL="0" indent="0">
              <a:buNone/>
            </a:pPr>
            <a:r>
              <a:rPr lang="en-US" sz="1100" dirty="0">
                <a:solidFill>
                  <a:srgbClr val="42A5F5"/>
                </a:solidFill>
                <a:latin typeface="Consolas" pitchFamily="34" charset="0"/>
                <a:ea typeface="Consolas" pitchFamily="34" charset="-122"/>
                <a:cs typeface="Consolas" pitchFamily="34" charset="-120"/>
              </a:rPr>
              <a:t>SrcA = x1 = 5</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SrcB = x2 = 3</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ALUResult = 5+3 = 8 ✓</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ALUControl = 0000</a:t>
            </a:r>
            <a:endParaRPr lang="en-US" sz="1100" dirty="0"/>
          </a:p>
        </p:txBody>
      </p:sp>
      <p:sp>
        <p:nvSpPr>
          <p:cNvPr id="8" name="Shape 5"/>
          <p:cNvSpPr/>
          <p:nvPr/>
        </p:nvSpPr>
        <p:spPr>
          <a:xfrm>
            <a:off x="3017520" y="3566160"/>
            <a:ext cx="2651760" cy="1325880"/>
          </a:xfrm>
          <a:prstGeom prst="rect">
            <a:avLst/>
          </a:prstGeom>
          <a:solidFill>
            <a:srgbClr val="1B2A4A"/>
          </a:solidFill>
          <a:ln w="15240">
            <a:solidFill>
              <a:srgbClr val="00ACC1"/>
            </a:solidFill>
            <a:prstDash val="solid"/>
          </a:ln>
        </p:spPr>
      </p:sp>
      <p:sp>
        <p:nvSpPr>
          <p:cNvPr id="9" name="Text 6"/>
          <p:cNvSpPr/>
          <p:nvPr/>
        </p:nvSpPr>
        <p:spPr>
          <a:xfrm>
            <a:off x="3108960" y="3639312"/>
            <a:ext cx="2468880" cy="256032"/>
          </a:xfrm>
          <a:prstGeom prst="rect">
            <a:avLst/>
          </a:prstGeom>
          <a:noFill/>
          <a:ln/>
        </p:spPr>
        <p:txBody>
          <a:bodyPr wrap="square" rtlCol="0" anchor="ctr"/>
          <a:lstStyle/>
          <a:p>
            <a:pPr marL="0" indent="0">
              <a:buNone/>
            </a:pPr>
            <a:r>
              <a:rPr lang="en-US" sz="1300" b="1" dirty="0">
                <a:solidFill>
                  <a:srgbClr val="FFD600"/>
                </a:solidFill>
                <a:latin typeface="Calibri" pitchFamily="34" charset="0"/>
                <a:ea typeface="Calibri" pitchFamily="34" charset="-122"/>
                <a:cs typeface="Calibri" pitchFamily="34" charset="-120"/>
              </a:rPr>
              <a:t>SW → ALUResult</a:t>
            </a:r>
            <a:endParaRPr lang="en-US" sz="1300" dirty="0"/>
          </a:p>
        </p:txBody>
      </p:sp>
      <p:sp>
        <p:nvSpPr>
          <p:cNvPr id="10" name="Text 7"/>
          <p:cNvSpPr/>
          <p:nvPr/>
        </p:nvSpPr>
        <p:spPr>
          <a:xfrm>
            <a:off x="3108960" y="3931920"/>
            <a:ext cx="2468880" cy="868680"/>
          </a:xfrm>
          <a:prstGeom prst="rect">
            <a:avLst/>
          </a:prstGeom>
          <a:noFill/>
          <a:ln/>
        </p:spPr>
        <p:txBody>
          <a:bodyPr wrap="square" rtlCol="0" anchor="ctr"/>
          <a:lstStyle/>
          <a:p>
            <a:pPr marL="0" indent="0">
              <a:buNone/>
            </a:pPr>
            <a:r>
              <a:rPr lang="en-US" sz="1100" dirty="0">
                <a:solidFill>
                  <a:srgbClr val="42A5F5"/>
                </a:solidFill>
                <a:latin typeface="Consolas" pitchFamily="34" charset="0"/>
                <a:ea typeface="Consolas" pitchFamily="34" charset="-122"/>
                <a:cs typeface="Consolas" pitchFamily="34" charset="-120"/>
              </a:rPr>
              <a:t>SrcA = x0 = 0 (base)</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SrcB = Imm = 24</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ALUResult = 0x18 = 24 ✓</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Address calculation correct</a:t>
            </a:r>
            <a:endParaRPr lang="en-US" sz="1100" dirty="0"/>
          </a:p>
        </p:txBody>
      </p:sp>
      <p:sp>
        <p:nvSpPr>
          <p:cNvPr id="11" name="Shape 8"/>
          <p:cNvSpPr/>
          <p:nvPr/>
        </p:nvSpPr>
        <p:spPr>
          <a:xfrm>
            <a:off x="5897880" y="3566160"/>
            <a:ext cx="3063240" cy="1325880"/>
          </a:xfrm>
          <a:prstGeom prst="rect">
            <a:avLst/>
          </a:prstGeom>
          <a:solidFill>
            <a:srgbClr val="1B2A4A"/>
          </a:solidFill>
          <a:ln w="15240">
            <a:solidFill>
              <a:srgbClr val="00ACC1"/>
            </a:solidFill>
            <a:prstDash val="solid"/>
          </a:ln>
        </p:spPr>
      </p:sp>
      <p:sp>
        <p:nvSpPr>
          <p:cNvPr id="12" name="Text 9"/>
          <p:cNvSpPr/>
          <p:nvPr/>
        </p:nvSpPr>
        <p:spPr>
          <a:xfrm>
            <a:off x="5989320" y="3639312"/>
            <a:ext cx="2880360" cy="256032"/>
          </a:xfrm>
          <a:prstGeom prst="rect">
            <a:avLst/>
          </a:prstGeom>
          <a:noFill/>
          <a:ln/>
        </p:spPr>
        <p:txBody>
          <a:bodyPr wrap="square" rtlCol="0" anchor="ctr"/>
          <a:lstStyle/>
          <a:p>
            <a:pPr marL="0" indent="0">
              <a:buNone/>
            </a:pPr>
            <a:r>
              <a:rPr lang="en-US" sz="1300" b="1" dirty="0">
                <a:solidFill>
                  <a:srgbClr val="FFD600"/>
                </a:solidFill>
                <a:latin typeface="Calibri" pitchFamily="34" charset="0"/>
                <a:ea typeface="Calibri" pitchFamily="34" charset="-122"/>
                <a:cs typeface="Calibri" pitchFamily="34" charset="-120"/>
              </a:rPr>
              <a:t>LW → ReadData</a:t>
            </a:r>
            <a:endParaRPr lang="en-US" sz="1300" dirty="0"/>
          </a:p>
        </p:txBody>
      </p:sp>
      <p:sp>
        <p:nvSpPr>
          <p:cNvPr id="13" name="Text 10"/>
          <p:cNvSpPr/>
          <p:nvPr/>
        </p:nvSpPr>
        <p:spPr>
          <a:xfrm>
            <a:off x="5989320" y="3931920"/>
            <a:ext cx="2880360" cy="868680"/>
          </a:xfrm>
          <a:prstGeom prst="rect">
            <a:avLst/>
          </a:prstGeom>
          <a:noFill/>
          <a:ln/>
        </p:spPr>
        <p:txBody>
          <a:bodyPr wrap="square" rtlCol="0" anchor="ctr"/>
          <a:lstStyle/>
          <a:p>
            <a:pPr marL="0" indent="0">
              <a:buNone/>
            </a:pPr>
            <a:r>
              <a:rPr lang="en-US" sz="1100" dirty="0">
                <a:solidFill>
                  <a:srgbClr val="42A5F5"/>
                </a:solidFill>
                <a:latin typeface="Consolas" pitchFamily="34" charset="0"/>
                <a:ea typeface="Consolas" pitchFamily="34" charset="-122"/>
                <a:cs typeface="Consolas" pitchFamily="34" charset="-120"/>
              </a:rPr>
              <a:t>WriteData = x9 = 40 = 0x28 ✓</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ReadData valid post-LW ✓</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Result = 0x18 (ALUResult path)</a:t>
            </a:r>
            <a:endParaRPr lang="en-US" sz="1100" dirty="0"/>
          </a:p>
          <a:p>
            <a:pPr marL="0" indent="0">
              <a:buNone/>
            </a:pPr>
            <a:r>
              <a:rPr lang="en-US" sz="1100" dirty="0">
                <a:solidFill>
                  <a:srgbClr val="42A5F5"/>
                </a:solidFill>
                <a:latin typeface="Consolas" pitchFamily="34" charset="0"/>
                <a:ea typeface="Consolas" pitchFamily="34" charset="-122"/>
                <a:cs typeface="Consolas" pitchFamily="34" charset="-120"/>
              </a:rPr>
              <a:t>ResultSrc = 00 → ALUResult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D"/>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Test Program — Instruction Coverage</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sp>
        <p:nvSpPr>
          <p:cNvPr id="4" name="Shape 2"/>
          <p:cNvSpPr/>
          <p:nvPr/>
        </p:nvSpPr>
        <p:spPr>
          <a:xfrm>
            <a:off x="182880" y="914400"/>
            <a:ext cx="4160520" cy="3383280"/>
          </a:xfrm>
          <a:prstGeom prst="rect">
            <a:avLst/>
          </a:prstGeom>
          <a:solidFill>
            <a:srgbClr val="0A0E1A"/>
          </a:solidFill>
          <a:ln w="19050">
            <a:solidFill>
              <a:srgbClr val="00ACC1"/>
            </a:solidFill>
            <a:prstDash val="solid"/>
          </a:ln>
        </p:spPr>
      </p:sp>
      <p:sp>
        <p:nvSpPr>
          <p:cNvPr id="5" name="Text 3"/>
          <p:cNvSpPr/>
          <p:nvPr/>
        </p:nvSpPr>
        <p:spPr>
          <a:xfrm>
            <a:off x="292608" y="1005840"/>
            <a:ext cx="3941064" cy="3200400"/>
          </a:xfrm>
          <a:prstGeom prst="rect">
            <a:avLst/>
          </a:prstGeom>
          <a:noFill/>
          <a:ln/>
        </p:spPr>
        <p:txBody>
          <a:bodyPr wrap="square" rtlCol="0" anchor="ctr"/>
          <a:lstStyle/>
          <a:p>
            <a:pPr marL="0" indent="0">
              <a:buNone/>
            </a:pPr>
            <a:r>
              <a:rPr lang="en-US" sz="1050" dirty="0">
                <a:solidFill>
                  <a:srgbClr val="A8D8F0"/>
                </a:solidFill>
                <a:latin typeface="Consolas" pitchFamily="34" charset="0"/>
                <a:ea typeface="Consolas" pitchFamily="34" charset="-122"/>
                <a:cs typeface="Consolas" pitchFamily="34" charset="-120"/>
              </a:rPr>
              <a:t>ADDI x1, x0, 5     // x1 = 5</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ADDI x2, x0, 3     // x2 = 3</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ADD  x3, x1, x2    // x3 = 8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SUB  x4, x1, x2    // x4 = 2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AND  x5, x1, x2    // x5 = 1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OR   x6, x1, x2    // x6 = 7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XOR  x7, x1, x2    // x7 = 6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SLT  x8, x2, x1    // x8 = 1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SLL  x9, x1, x2    // x9 = 40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SRL x10, x3, x2    // x10= 2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SRA x11, x3, x2    // x11= 2 ✓</a:t>
            </a:r>
            <a:endParaRPr lang="en-US" sz="1050" dirty="0"/>
          </a:p>
        </p:txBody>
      </p:sp>
      <p:sp>
        <p:nvSpPr>
          <p:cNvPr id="6" name="Shape 4"/>
          <p:cNvSpPr/>
          <p:nvPr/>
        </p:nvSpPr>
        <p:spPr>
          <a:xfrm>
            <a:off x="4663440" y="914400"/>
            <a:ext cx="4297680" cy="3383280"/>
          </a:xfrm>
          <a:prstGeom prst="rect">
            <a:avLst/>
          </a:prstGeom>
          <a:solidFill>
            <a:srgbClr val="0A0E1A"/>
          </a:solidFill>
          <a:ln w="19050">
            <a:solidFill>
              <a:srgbClr val="00ACC1"/>
            </a:solidFill>
            <a:prstDash val="solid"/>
          </a:ln>
        </p:spPr>
      </p:sp>
      <p:sp>
        <p:nvSpPr>
          <p:cNvPr id="7" name="Text 5"/>
          <p:cNvSpPr/>
          <p:nvPr/>
        </p:nvSpPr>
        <p:spPr>
          <a:xfrm>
            <a:off x="4773168" y="1005840"/>
            <a:ext cx="4078224" cy="3200400"/>
          </a:xfrm>
          <a:prstGeom prst="rect">
            <a:avLst/>
          </a:prstGeom>
          <a:noFill/>
          <a:ln/>
        </p:spPr>
        <p:txBody>
          <a:bodyPr wrap="square" rtlCol="0" anchor="ctr"/>
          <a:lstStyle/>
          <a:p>
            <a:pPr marL="0" indent="0">
              <a:buNone/>
            </a:pPr>
            <a:r>
              <a:rPr lang="en-US" sz="1050" dirty="0">
                <a:solidFill>
                  <a:srgbClr val="A8D8F0"/>
                </a:solidFill>
                <a:latin typeface="Consolas" pitchFamily="34" charset="0"/>
                <a:ea typeface="Consolas" pitchFamily="34" charset="-122"/>
                <a:cs typeface="Consolas" pitchFamily="34" charset="-120"/>
              </a:rPr>
              <a:t>ADDI x12, x0, 100  // x12 = 100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SW   x3,  0(x0)    // mem[0] = 8</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LW   x13, 0(x0)    // x13 = 8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SLTI x14, x1, 10   // x14 = 1</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ORI  x15, x1, 8    // x15 = 9</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ANDI x16, x8, 6    // x16 = 0</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BEQ  x3, x13, +12  // branch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 skip TRAP 0xBAD</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  → skip TRAP 0xBAD</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ADDI x17, x0, 0xAA // BEQ ok ✓</a:t>
            </a:r>
            <a:endParaRPr lang="en-US" sz="1050" dirty="0"/>
          </a:p>
          <a:p>
            <a:pPr marL="0" indent="0">
              <a:buNone/>
            </a:pPr>
            <a:r>
              <a:rPr lang="en-US" sz="1050" dirty="0">
                <a:solidFill>
                  <a:srgbClr val="A8D8F0"/>
                </a:solidFill>
                <a:latin typeface="Consolas" pitchFamily="34" charset="0"/>
                <a:ea typeface="Consolas" pitchFamily="34" charset="-122"/>
                <a:cs typeface="Consolas" pitchFamily="34" charset="-120"/>
              </a:rPr>
              <a:t>JAL  x0, +12       // jump ✓</a:t>
            </a:r>
            <a:endParaRPr lang="en-US" sz="1050" dirty="0"/>
          </a:p>
        </p:txBody>
      </p:sp>
      <p:sp>
        <p:nvSpPr>
          <p:cNvPr id="8" name="Shape 6"/>
          <p:cNvSpPr/>
          <p:nvPr/>
        </p:nvSpPr>
        <p:spPr>
          <a:xfrm>
            <a:off x="182880" y="4407408"/>
            <a:ext cx="1280160" cy="384048"/>
          </a:xfrm>
          <a:prstGeom prst="roundRect">
            <a:avLst>
              <a:gd name="adj" fmla="val 11905"/>
            </a:avLst>
          </a:prstGeom>
          <a:solidFill>
            <a:srgbClr val="00ACC1"/>
          </a:solidFill>
          <a:ln w="12700">
            <a:solidFill>
              <a:srgbClr val="00ACC1"/>
            </a:solidFill>
            <a:prstDash val="solid"/>
          </a:ln>
        </p:spPr>
      </p:sp>
      <p:sp>
        <p:nvSpPr>
          <p:cNvPr id="9" name="Text 7"/>
          <p:cNvSpPr/>
          <p:nvPr/>
        </p:nvSpPr>
        <p:spPr>
          <a:xfrm>
            <a:off x="18288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R-Type</a:t>
            </a:r>
            <a:endParaRPr lang="en-US" sz="1300" dirty="0"/>
          </a:p>
        </p:txBody>
      </p:sp>
      <p:sp>
        <p:nvSpPr>
          <p:cNvPr id="10" name="Shape 8"/>
          <p:cNvSpPr/>
          <p:nvPr/>
        </p:nvSpPr>
        <p:spPr>
          <a:xfrm>
            <a:off x="1645920" y="4407408"/>
            <a:ext cx="1280160" cy="384048"/>
          </a:xfrm>
          <a:prstGeom prst="roundRect">
            <a:avLst>
              <a:gd name="adj" fmla="val 11905"/>
            </a:avLst>
          </a:prstGeom>
          <a:solidFill>
            <a:srgbClr val="00ACC1"/>
          </a:solidFill>
          <a:ln w="12700">
            <a:solidFill>
              <a:srgbClr val="00ACC1"/>
            </a:solidFill>
            <a:prstDash val="solid"/>
          </a:ln>
        </p:spPr>
      </p:sp>
      <p:sp>
        <p:nvSpPr>
          <p:cNvPr id="11" name="Text 9"/>
          <p:cNvSpPr/>
          <p:nvPr/>
        </p:nvSpPr>
        <p:spPr>
          <a:xfrm>
            <a:off x="164592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I-Type</a:t>
            </a:r>
            <a:endParaRPr lang="en-US" sz="1300" dirty="0"/>
          </a:p>
        </p:txBody>
      </p:sp>
      <p:sp>
        <p:nvSpPr>
          <p:cNvPr id="12" name="Shape 10"/>
          <p:cNvSpPr/>
          <p:nvPr/>
        </p:nvSpPr>
        <p:spPr>
          <a:xfrm>
            <a:off x="3108960" y="4407408"/>
            <a:ext cx="1280160" cy="384048"/>
          </a:xfrm>
          <a:prstGeom prst="roundRect">
            <a:avLst>
              <a:gd name="adj" fmla="val 11905"/>
            </a:avLst>
          </a:prstGeom>
          <a:solidFill>
            <a:srgbClr val="00ACC1"/>
          </a:solidFill>
          <a:ln w="12700">
            <a:solidFill>
              <a:srgbClr val="00ACC1"/>
            </a:solidFill>
            <a:prstDash val="solid"/>
          </a:ln>
        </p:spPr>
      </p:sp>
      <p:sp>
        <p:nvSpPr>
          <p:cNvPr id="13" name="Text 11"/>
          <p:cNvSpPr/>
          <p:nvPr/>
        </p:nvSpPr>
        <p:spPr>
          <a:xfrm>
            <a:off x="310896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LW/SW</a:t>
            </a:r>
            <a:endParaRPr lang="en-US" sz="1300" dirty="0"/>
          </a:p>
        </p:txBody>
      </p:sp>
      <p:sp>
        <p:nvSpPr>
          <p:cNvPr id="14" name="Shape 12"/>
          <p:cNvSpPr/>
          <p:nvPr/>
        </p:nvSpPr>
        <p:spPr>
          <a:xfrm>
            <a:off x="4526280" y="4407408"/>
            <a:ext cx="1280160" cy="384048"/>
          </a:xfrm>
          <a:prstGeom prst="roundRect">
            <a:avLst>
              <a:gd name="adj" fmla="val 11905"/>
            </a:avLst>
          </a:prstGeom>
          <a:solidFill>
            <a:srgbClr val="00ACC1"/>
          </a:solidFill>
          <a:ln w="12700">
            <a:solidFill>
              <a:srgbClr val="00ACC1"/>
            </a:solidFill>
            <a:prstDash val="solid"/>
          </a:ln>
        </p:spPr>
      </p:sp>
      <p:sp>
        <p:nvSpPr>
          <p:cNvPr id="15" name="Text 13"/>
          <p:cNvSpPr/>
          <p:nvPr/>
        </p:nvSpPr>
        <p:spPr>
          <a:xfrm>
            <a:off x="452628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BEQ</a:t>
            </a:r>
            <a:endParaRPr lang="en-US" sz="1300" dirty="0"/>
          </a:p>
        </p:txBody>
      </p:sp>
      <p:sp>
        <p:nvSpPr>
          <p:cNvPr id="16" name="Shape 14"/>
          <p:cNvSpPr/>
          <p:nvPr/>
        </p:nvSpPr>
        <p:spPr>
          <a:xfrm>
            <a:off x="5943600" y="4407408"/>
            <a:ext cx="1280160" cy="384048"/>
          </a:xfrm>
          <a:prstGeom prst="roundRect">
            <a:avLst>
              <a:gd name="adj" fmla="val 11905"/>
            </a:avLst>
          </a:prstGeom>
          <a:solidFill>
            <a:srgbClr val="00ACC1"/>
          </a:solidFill>
          <a:ln w="12700">
            <a:solidFill>
              <a:srgbClr val="00ACC1"/>
            </a:solidFill>
            <a:prstDash val="solid"/>
          </a:ln>
        </p:spPr>
      </p:sp>
      <p:sp>
        <p:nvSpPr>
          <p:cNvPr id="17" name="Text 15"/>
          <p:cNvSpPr/>
          <p:nvPr/>
        </p:nvSpPr>
        <p:spPr>
          <a:xfrm>
            <a:off x="594360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JAL</a:t>
            </a:r>
            <a:endParaRPr lang="en-US" sz="1300" dirty="0"/>
          </a:p>
        </p:txBody>
      </p:sp>
      <p:sp>
        <p:nvSpPr>
          <p:cNvPr id="18" name="Shape 16"/>
          <p:cNvSpPr/>
          <p:nvPr/>
        </p:nvSpPr>
        <p:spPr>
          <a:xfrm>
            <a:off x="7315200" y="4407408"/>
            <a:ext cx="1280160" cy="384048"/>
          </a:xfrm>
          <a:prstGeom prst="roundRect">
            <a:avLst>
              <a:gd name="adj" fmla="val 11905"/>
            </a:avLst>
          </a:prstGeom>
          <a:solidFill>
            <a:srgbClr val="00ACC1"/>
          </a:solidFill>
          <a:ln w="12700">
            <a:solidFill>
              <a:srgbClr val="00ACC1"/>
            </a:solidFill>
            <a:prstDash val="solid"/>
          </a:ln>
        </p:spPr>
      </p:sp>
      <p:sp>
        <p:nvSpPr>
          <p:cNvPr id="19" name="Text 17"/>
          <p:cNvSpPr/>
          <p:nvPr/>
        </p:nvSpPr>
        <p:spPr>
          <a:xfrm>
            <a:off x="7315200" y="4407408"/>
            <a:ext cx="1280160" cy="384048"/>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22 Instr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marL="0" indent="0" algn="l">
              <a:buNone/>
            </a:pPr>
            <a:r>
              <a:rPr lang="en-US" sz="2800" b="1" dirty="0">
                <a:solidFill>
                  <a:srgbClr val="42A5F5"/>
                </a:solidFill>
                <a:latin typeface="Calibri" pitchFamily="34" charset="0"/>
                <a:ea typeface="Calibri" pitchFamily="34" charset="-122"/>
                <a:cs typeface="Calibri" pitchFamily="34" charset="-120"/>
              </a:rPr>
              <a:t>Performance Analysis</a:t>
            </a:r>
            <a:endParaRPr lang="en-US" sz="2800" dirty="0"/>
          </a:p>
        </p:txBody>
      </p:sp>
      <p:sp>
        <p:nvSpPr>
          <p:cNvPr id="3" name="Shape 1"/>
          <p:cNvSpPr/>
          <p:nvPr/>
        </p:nvSpPr>
        <p:spPr>
          <a:xfrm>
            <a:off x="365760" y="749808"/>
            <a:ext cx="2011680" cy="45720"/>
          </a:xfrm>
          <a:prstGeom prst="rect">
            <a:avLst/>
          </a:prstGeom>
          <a:solidFill>
            <a:srgbClr val="00ACC1"/>
          </a:solidFill>
          <a:ln w="12700">
            <a:solidFill>
              <a:srgbClr val="00ACC1"/>
            </a:solidFill>
            <a:prstDash val="solid"/>
          </a:ln>
        </p:spPr>
      </p:sp>
      <p:sp>
        <p:nvSpPr>
          <p:cNvPr id="4" name="Shape 2"/>
          <p:cNvSpPr/>
          <p:nvPr/>
        </p:nvSpPr>
        <p:spPr>
          <a:xfrm>
            <a:off x="274320" y="914400"/>
            <a:ext cx="2560320" cy="2377440"/>
          </a:xfrm>
          <a:prstGeom prst="rect">
            <a:avLst/>
          </a:prstGeom>
          <a:solidFill>
            <a:srgbClr val="1565C0"/>
          </a:solidFill>
          <a:ln w="19050">
            <a:solidFill>
              <a:srgbClr val="42A5F5"/>
            </a:solidFill>
            <a:prstDash val="solid"/>
          </a:ln>
        </p:spPr>
      </p:sp>
      <p:sp>
        <p:nvSpPr>
          <p:cNvPr id="5" name="Text 3"/>
          <p:cNvSpPr/>
          <p:nvPr/>
        </p:nvSpPr>
        <p:spPr>
          <a:xfrm>
            <a:off x="274320" y="960120"/>
            <a:ext cx="25603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CPI</a:t>
            </a:r>
            <a:endParaRPr lang="en-US" sz="1600" dirty="0"/>
          </a:p>
        </p:txBody>
      </p:sp>
      <p:sp>
        <p:nvSpPr>
          <p:cNvPr id="6" name="Text 4"/>
          <p:cNvSpPr/>
          <p:nvPr/>
        </p:nvSpPr>
        <p:spPr>
          <a:xfrm>
            <a:off x="274320" y="1371600"/>
            <a:ext cx="2560320" cy="914400"/>
          </a:xfrm>
          <a:prstGeom prst="rect">
            <a:avLst/>
          </a:prstGeom>
          <a:noFill/>
          <a:ln/>
        </p:spPr>
        <p:txBody>
          <a:bodyPr wrap="square" rtlCol="0" anchor="ctr"/>
          <a:lstStyle/>
          <a:p>
            <a:pPr marL="0" indent="0" algn="ctr">
              <a:buNone/>
            </a:pPr>
            <a:r>
              <a:rPr lang="en-US" sz="7200" b="1" dirty="0">
                <a:solidFill>
                  <a:srgbClr val="FFD600"/>
                </a:solidFill>
                <a:latin typeface="Calibri" pitchFamily="34" charset="0"/>
                <a:ea typeface="Calibri" pitchFamily="34" charset="-122"/>
                <a:cs typeface="Calibri" pitchFamily="34" charset="-120"/>
              </a:rPr>
              <a:t>1</a:t>
            </a:r>
            <a:endParaRPr lang="en-US" sz="7200" dirty="0"/>
          </a:p>
        </p:txBody>
      </p:sp>
      <p:sp>
        <p:nvSpPr>
          <p:cNvPr id="7" name="Text 5"/>
          <p:cNvSpPr/>
          <p:nvPr/>
        </p:nvSpPr>
        <p:spPr>
          <a:xfrm>
            <a:off x="274320" y="2286000"/>
            <a:ext cx="2560320" cy="365760"/>
          </a:xfrm>
          <a:prstGeom prst="rect">
            <a:avLst/>
          </a:prstGeom>
          <a:noFill/>
          <a:ln/>
        </p:spPr>
        <p:txBody>
          <a:bodyPr wrap="square" rtlCol="0" anchor="ctr"/>
          <a:lstStyle/>
          <a:p>
            <a:pPr marL="0" indent="0" algn="ctr">
              <a:buNone/>
            </a:pPr>
            <a:r>
              <a:rPr lang="en-US" sz="1400" dirty="0">
                <a:solidFill>
                  <a:srgbClr val="42A5F5"/>
                </a:solidFill>
                <a:latin typeface="Calibri" pitchFamily="34" charset="0"/>
                <a:ea typeface="Calibri" pitchFamily="34" charset="-122"/>
                <a:cs typeface="Calibri" pitchFamily="34" charset="-120"/>
              </a:rPr>
              <a:t>Exactly 1</a:t>
            </a:r>
            <a:endParaRPr lang="en-US" sz="1400" dirty="0"/>
          </a:p>
        </p:txBody>
      </p:sp>
      <p:sp>
        <p:nvSpPr>
          <p:cNvPr id="8" name="Text 6"/>
          <p:cNvSpPr/>
          <p:nvPr/>
        </p:nvSpPr>
        <p:spPr>
          <a:xfrm>
            <a:off x="274320" y="2651760"/>
            <a:ext cx="2560320" cy="365760"/>
          </a:xfrm>
          <a:prstGeom prst="rect">
            <a:avLst/>
          </a:prstGeom>
          <a:noFill/>
          <a:ln/>
        </p:spPr>
        <p:txBody>
          <a:bodyPr wrap="square" rtlCol="0" anchor="ctr"/>
          <a:lstStyle/>
          <a:p>
            <a:pPr marL="0" indent="0" algn="ctr">
              <a:buNone/>
            </a:pPr>
            <a:r>
              <a:rPr lang="en-US" sz="1100" dirty="0">
                <a:solidFill>
                  <a:srgbClr val="90A4AE"/>
                </a:solidFill>
                <a:latin typeface="Calibri" pitchFamily="34" charset="0"/>
                <a:ea typeface="Calibri" pitchFamily="34" charset="-122"/>
                <a:cs typeface="Calibri" pitchFamily="34" charset="-120"/>
              </a:rPr>
              <a:t>(Architectural Guarantee)</a:t>
            </a:r>
            <a:endParaRPr lang="en-US" sz="1100" dirty="0"/>
          </a:p>
        </p:txBody>
      </p:sp>
      <p:sp>
        <p:nvSpPr>
          <p:cNvPr id="9" name="Text 7"/>
          <p:cNvSpPr/>
          <p:nvPr/>
        </p:nvSpPr>
        <p:spPr>
          <a:xfrm>
            <a:off x="3108960" y="914400"/>
            <a:ext cx="5760720" cy="365760"/>
          </a:xfrm>
          <a:prstGeom prst="rect">
            <a:avLst/>
          </a:prstGeom>
          <a:noFill/>
          <a:ln/>
        </p:spPr>
        <p:txBody>
          <a:bodyPr wrap="square" rtlCol="0" anchor="ctr"/>
          <a:lstStyle/>
          <a:p>
            <a:pPr marL="0" indent="0">
              <a:buNone/>
            </a:pPr>
            <a:r>
              <a:rPr lang="en-US" sz="1500" b="1" dirty="0">
                <a:solidFill>
                  <a:srgbClr val="00ACC1"/>
                </a:solidFill>
                <a:latin typeface="Calibri" pitchFamily="34" charset="0"/>
                <a:ea typeface="Calibri" pitchFamily="34" charset="-122"/>
                <a:cs typeface="Calibri" pitchFamily="34" charset="-120"/>
              </a:rPr>
              <a:t>Critical Path Analysis — LW Instruction</a:t>
            </a:r>
            <a:endParaRPr lang="en-US" sz="1500" dirty="0"/>
          </a:p>
        </p:txBody>
      </p:sp>
      <p:sp>
        <p:nvSpPr>
          <p:cNvPr id="10" name="Shape 8"/>
          <p:cNvSpPr/>
          <p:nvPr/>
        </p:nvSpPr>
        <p:spPr>
          <a:xfrm>
            <a:off x="3108960" y="1371600"/>
            <a:ext cx="868680" cy="640080"/>
          </a:xfrm>
          <a:prstGeom prst="rect">
            <a:avLst/>
          </a:prstGeom>
          <a:solidFill>
            <a:srgbClr val="1565C0"/>
          </a:solidFill>
          <a:ln w="10160">
            <a:solidFill>
              <a:srgbClr val="42A5F5"/>
            </a:solidFill>
            <a:prstDash val="solid"/>
          </a:ln>
        </p:spPr>
      </p:sp>
      <p:sp>
        <p:nvSpPr>
          <p:cNvPr id="11" name="Text 9"/>
          <p:cNvSpPr/>
          <p:nvPr/>
        </p:nvSpPr>
        <p:spPr>
          <a:xfrm>
            <a:off x="3108960"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IMEM</a:t>
            </a:r>
            <a:endParaRPr lang="en-US" sz="1000" dirty="0"/>
          </a:p>
        </p:txBody>
      </p:sp>
      <p:sp>
        <p:nvSpPr>
          <p:cNvPr id="12" name="Shape 10"/>
          <p:cNvSpPr/>
          <p:nvPr/>
        </p:nvSpPr>
        <p:spPr>
          <a:xfrm>
            <a:off x="3977640" y="1691640"/>
            <a:ext cx="73152" cy="0"/>
          </a:xfrm>
          <a:prstGeom prst="line">
            <a:avLst/>
          </a:prstGeom>
          <a:noFill/>
          <a:ln w="19050">
            <a:solidFill>
              <a:srgbClr val="42A5F5"/>
            </a:solidFill>
            <a:prstDash val="solid"/>
          </a:ln>
        </p:spPr>
      </p:sp>
      <p:sp>
        <p:nvSpPr>
          <p:cNvPr id="13" name="Shape 11"/>
          <p:cNvSpPr/>
          <p:nvPr/>
        </p:nvSpPr>
        <p:spPr>
          <a:xfrm>
            <a:off x="4050792" y="1371600"/>
            <a:ext cx="868680" cy="640080"/>
          </a:xfrm>
          <a:prstGeom prst="rect">
            <a:avLst/>
          </a:prstGeom>
          <a:solidFill>
            <a:srgbClr val="1565C0"/>
          </a:solidFill>
          <a:ln w="10160">
            <a:solidFill>
              <a:srgbClr val="42A5F5"/>
            </a:solidFill>
            <a:prstDash val="solid"/>
          </a:ln>
        </p:spPr>
      </p:sp>
      <p:sp>
        <p:nvSpPr>
          <p:cNvPr id="14" name="Text 12"/>
          <p:cNvSpPr/>
          <p:nvPr/>
        </p:nvSpPr>
        <p:spPr>
          <a:xfrm>
            <a:off x="4050792"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RegFile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Read</a:t>
            </a:r>
            <a:endParaRPr lang="en-US" sz="1000" dirty="0"/>
          </a:p>
        </p:txBody>
      </p:sp>
      <p:sp>
        <p:nvSpPr>
          <p:cNvPr id="15" name="Shape 13"/>
          <p:cNvSpPr/>
          <p:nvPr/>
        </p:nvSpPr>
        <p:spPr>
          <a:xfrm>
            <a:off x="4919472" y="1691640"/>
            <a:ext cx="73152" cy="0"/>
          </a:xfrm>
          <a:prstGeom prst="line">
            <a:avLst/>
          </a:prstGeom>
          <a:noFill/>
          <a:ln w="19050">
            <a:solidFill>
              <a:srgbClr val="42A5F5"/>
            </a:solidFill>
            <a:prstDash val="solid"/>
          </a:ln>
        </p:spPr>
      </p:sp>
      <p:sp>
        <p:nvSpPr>
          <p:cNvPr id="16" name="Shape 14"/>
          <p:cNvSpPr/>
          <p:nvPr/>
        </p:nvSpPr>
        <p:spPr>
          <a:xfrm>
            <a:off x="4992624" y="1371600"/>
            <a:ext cx="868680" cy="640080"/>
          </a:xfrm>
          <a:prstGeom prst="rect">
            <a:avLst/>
          </a:prstGeom>
          <a:solidFill>
            <a:srgbClr val="1565C0"/>
          </a:solidFill>
          <a:ln w="10160">
            <a:solidFill>
              <a:srgbClr val="42A5F5"/>
            </a:solidFill>
            <a:prstDash val="solid"/>
          </a:ln>
        </p:spPr>
      </p:sp>
      <p:sp>
        <p:nvSpPr>
          <p:cNvPr id="17" name="Text 15"/>
          <p:cNvSpPr/>
          <p:nvPr/>
        </p:nvSpPr>
        <p:spPr>
          <a:xfrm>
            <a:off x="4992624"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ALU</a:t>
            </a:r>
            <a:endParaRPr lang="en-US" sz="1000" dirty="0"/>
          </a:p>
        </p:txBody>
      </p:sp>
      <p:sp>
        <p:nvSpPr>
          <p:cNvPr id="18" name="Shape 16"/>
          <p:cNvSpPr/>
          <p:nvPr/>
        </p:nvSpPr>
        <p:spPr>
          <a:xfrm>
            <a:off x="5861304" y="1691640"/>
            <a:ext cx="73152" cy="0"/>
          </a:xfrm>
          <a:prstGeom prst="line">
            <a:avLst/>
          </a:prstGeom>
          <a:noFill/>
          <a:ln w="19050">
            <a:solidFill>
              <a:srgbClr val="42A5F5"/>
            </a:solidFill>
            <a:prstDash val="solid"/>
          </a:ln>
        </p:spPr>
      </p:sp>
      <p:sp>
        <p:nvSpPr>
          <p:cNvPr id="19" name="Shape 17"/>
          <p:cNvSpPr/>
          <p:nvPr/>
        </p:nvSpPr>
        <p:spPr>
          <a:xfrm>
            <a:off x="5934456" y="1371600"/>
            <a:ext cx="868680" cy="640080"/>
          </a:xfrm>
          <a:prstGeom prst="rect">
            <a:avLst/>
          </a:prstGeom>
          <a:solidFill>
            <a:srgbClr val="B71C1C"/>
          </a:solidFill>
          <a:ln w="10160">
            <a:solidFill>
              <a:srgbClr val="42A5F5"/>
            </a:solidFill>
            <a:prstDash val="solid"/>
          </a:ln>
        </p:spPr>
      </p:sp>
      <p:sp>
        <p:nvSpPr>
          <p:cNvPr id="20" name="Text 18"/>
          <p:cNvSpPr/>
          <p:nvPr/>
        </p:nvSpPr>
        <p:spPr>
          <a:xfrm>
            <a:off x="5934456"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DMEM</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Read</a:t>
            </a:r>
            <a:endParaRPr lang="en-US" sz="1000" dirty="0"/>
          </a:p>
        </p:txBody>
      </p:sp>
      <p:sp>
        <p:nvSpPr>
          <p:cNvPr id="21" name="Shape 19"/>
          <p:cNvSpPr/>
          <p:nvPr/>
        </p:nvSpPr>
        <p:spPr>
          <a:xfrm>
            <a:off x="6803136" y="1691640"/>
            <a:ext cx="73152" cy="0"/>
          </a:xfrm>
          <a:prstGeom prst="line">
            <a:avLst/>
          </a:prstGeom>
          <a:noFill/>
          <a:ln w="19050">
            <a:solidFill>
              <a:srgbClr val="42A5F5"/>
            </a:solidFill>
            <a:prstDash val="solid"/>
          </a:ln>
        </p:spPr>
      </p:sp>
      <p:sp>
        <p:nvSpPr>
          <p:cNvPr id="22" name="Shape 20"/>
          <p:cNvSpPr/>
          <p:nvPr/>
        </p:nvSpPr>
        <p:spPr>
          <a:xfrm>
            <a:off x="6876288" y="1371600"/>
            <a:ext cx="868680" cy="640080"/>
          </a:xfrm>
          <a:prstGeom prst="rect">
            <a:avLst/>
          </a:prstGeom>
          <a:solidFill>
            <a:srgbClr val="B71C1C"/>
          </a:solidFill>
          <a:ln w="10160">
            <a:solidFill>
              <a:srgbClr val="42A5F5"/>
            </a:solidFill>
            <a:prstDash val="solid"/>
          </a:ln>
        </p:spPr>
      </p:sp>
      <p:sp>
        <p:nvSpPr>
          <p:cNvPr id="23" name="Text 21"/>
          <p:cNvSpPr/>
          <p:nvPr/>
        </p:nvSpPr>
        <p:spPr>
          <a:xfrm>
            <a:off x="6876288"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WB</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Mux</a:t>
            </a:r>
            <a:endParaRPr lang="en-US" sz="1000" dirty="0"/>
          </a:p>
        </p:txBody>
      </p:sp>
      <p:sp>
        <p:nvSpPr>
          <p:cNvPr id="24" name="Shape 22"/>
          <p:cNvSpPr/>
          <p:nvPr/>
        </p:nvSpPr>
        <p:spPr>
          <a:xfrm>
            <a:off x="7744968" y="1691640"/>
            <a:ext cx="73152" cy="0"/>
          </a:xfrm>
          <a:prstGeom prst="line">
            <a:avLst/>
          </a:prstGeom>
          <a:noFill/>
          <a:ln w="19050">
            <a:solidFill>
              <a:srgbClr val="42A5F5"/>
            </a:solidFill>
            <a:prstDash val="solid"/>
          </a:ln>
        </p:spPr>
      </p:sp>
      <p:sp>
        <p:nvSpPr>
          <p:cNvPr id="25" name="Shape 23"/>
          <p:cNvSpPr/>
          <p:nvPr/>
        </p:nvSpPr>
        <p:spPr>
          <a:xfrm>
            <a:off x="7818120" y="1371600"/>
            <a:ext cx="868680" cy="640080"/>
          </a:xfrm>
          <a:prstGeom prst="rect">
            <a:avLst/>
          </a:prstGeom>
          <a:solidFill>
            <a:srgbClr val="1565C0"/>
          </a:solidFill>
          <a:ln w="10160">
            <a:solidFill>
              <a:srgbClr val="42A5F5"/>
            </a:solidFill>
            <a:prstDash val="solid"/>
          </a:ln>
        </p:spPr>
      </p:sp>
      <p:sp>
        <p:nvSpPr>
          <p:cNvPr id="26" name="Text 24"/>
          <p:cNvSpPr/>
          <p:nvPr/>
        </p:nvSpPr>
        <p:spPr>
          <a:xfrm>
            <a:off x="7818120" y="1371600"/>
            <a:ext cx="86868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RegFile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Write</a:t>
            </a:r>
            <a:endParaRPr lang="en-US" sz="1000" dirty="0"/>
          </a:p>
        </p:txBody>
      </p:sp>
      <p:sp>
        <p:nvSpPr>
          <p:cNvPr id="27" name="Text 25"/>
          <p:cNvSpPr/>
          <p:nvPr/>
        </p:nvSpPr>
        <p:spPr>
          <a:xfrm>
            <a:off x="3108960" y="2103120"/>
            <a:ext cx="5760720" cy="274320"/>
          </a:xfrm>
          <a:prstGeom prst="rect">
            <a:avLst/>
          </a:prstGeom>
          <a:noFill/>
          <a:ln/>
        </p:spPr>
        <p:txBody>
          <a:bodyPr wrap="square" rtlCol="0" anchor="ctr"/>
          <a:lstStyle/>
          <a:p>
            <a:pPr marL="0" indent="0">
              <a:buNone/>
            </a:pPr>
            <a:r>
              <a:rPr lang="en-US" sz="1100" dirty="0">
                <a:solidFill>
                  <a:srgbClr val="EF5350"/>
                </a:solidFill>
                <a:latin typeface="Calibri" pitchFamily="34" charset="0"/>
                <a:ea typeface="Calibri" pitchFamily="34" charset="-122"/>
                <a:cs typeface="Calibri" pitchFamily="34" charset="-120"/>
              </a:rPr>
              <a:t>← Red stages only in LW (longest path → limits clock frequency)</a:t>
            </a:r>
            <a:endParaRPr lang="en-US" sz="1100" dirty="0"/>
          </a:p>
        </p:txBody>
      </p:sp>
      <p:sp>
        <p:nvSpPr>
          <p:cNvPr id="28" name="Text 26"/>
          <p:cNvSpPr/>
          <p:nvPr/>
        </p:nvSpPr>
        <p:spPr>
          <a:xfrm>
            <a:off x="3108960" y="2468880"/>
            <a:ext cx="5760720" cy="320040"/>
          </a:xfrm>
          <a:prstGeom prst="rect">
            <a:avLst/>
          </a:prstGeom>
          <a:noFill/>
          <a:ln/>
        </p:spPr>
        <p:txBody>
          <a:bodyPr wrap="square" rtlCol="0" anchor="ctr"/>
          <a:lstStyle/>
          <a:p>
            <a:pPr marL="0" indent="0">
              <a:buNone/>
            </a:pPr>
            <a:r>
              <a:rPr lang="en-US" sz="1400" b="1" dirty="0">
                <a:solidFill>
                  <a:srgbClr val="42A5F5"/>
                </a:solidFill>
                <a:latin typeface="Calibri" pitchFamily="34" charset="0"/>
                <a:ea typeface="Calibri" pitchFamily="34" charset="-122"/>
                <a:cs typeface="Calibri" pitchFamily="34" charset="-120"/>
              </a:rPr>
              <a:t>Single-Cycle vs. Pipelined Comparison</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108960" y="2834640"/>
          <a:ext cx="5760720" cy="1965960"/>
        </p:xfrm>
        <a:graphic>
          <a:graphicData uri="http://schemas.openxmlformats.org/drawingml/2006/table">
            <a:tbl>
              <a:tblPr/>
              <a:tblGrid>
                <a:gridCol w="1554480"/>
                <a:gridCol w="1828800"/>
                <a:gridCol w="2377440"/>
              </a:tblGrid>
              <a:tr h="491490">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Single-Cycle</a:t>
                      </a:r>
                      <a:endParaRPr lang="en-US" sz="12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5-Stage Pipeline</a:t>
                      </a:r>
                      <a:endParaRPr lang="en-US" sz="12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42A5F5"/>
                    </a:solidFill>
                  </a:tcPr>
                </a:tc>
              </a:tr>
              <a:tr h="491490">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CPI</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1 (ideal)</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~1.2-1.5 (with hazards)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r>
              <a:tr h="491490">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Clock Freq.</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~100-200 MHz</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~500 MHz+</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491490">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Complexity</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High (hazard detection, forwarding)</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8F4FD"/>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CC1"/>
          </a:solidFill>
          <a:ln w="12700">
            <a:solidFill>
              <a:srgbClr val="00ACC1"/>
            </a:solidFill>
            <a:prstDash val="solid"/>
          </a:ln>
        </p:spPr>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3200" b="1" dirty="0">
                <a:solidFill>
                  <a:srgbClr val="42A5F5"/>
                </a:solidFill>
                <a:latin typeface="Calibri" pitchFamily="34" charset="0"/>
                <a:ea typeface="Calibri" pitchFamily="34" charset="-122"/>
                <a:cs typeface="Calibri" pitchFamily="34" charset="-120"/>
              </a:rPr>
              <a:t>Conclusion</a:t>
            </a:r>
            <a:endParaRPr lang="en-US" sz="3200" dirty="0"/>
          </a:p>
        </p:txBody>
      </p:sp>
      <p:sp>
        <p:nvSpPr>
          <p:cNvPr id="4" name="Shape 2"/>
          <p:cNvSpPr/>
          <p:nvPr/>
        </p:nvSpPr>
        <p:spPr>
          <a:xfrm>
            <a:off x="274320" y="1078992"/>
            <a:ext cx="347472" cy="347472"/>
          </a:xfrm>
          <a:prstGeom prst="ellipse">
            <a:avLst/>
          </a:prstGeom>
          <a:solidFill>
            <a:srgbClr val="00ACC1"/>
          </a:solidFill>
          <a:ln w="12700">
            <a:solidFill>
              <a:srgbClr val="00ACC1"/>
            </a:solidFill>
            <a:prstDash val="solid"/>
          </a:ln>
        </p:spPr>
      </p:sp>
      <p:sp>
        <p:nvSpPr>
          <p:cNvPr id="5" name="Text 3"/>
          <p:cNvSpPr/>
          <p:nvPr/>
        </p:nvSpPr>
        <p:spPr>
          <a:xfrm>
            <a:off x="274320" y="1078992"/>
            <a:ext cx="347472" cy="34747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777240" y="1005840"/>
            <a:ext cx="80467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Complete RV32I subset implemented</a:t>
            </a:r>
            <a:endParaRPr lang="en-US" sz="1500" dirty="0"/>
          </a:p>
        </p:txBody>
      </p:sp>
      <p:sp>
        <p:nvSpPr>
          <p:cNvPr id="7" name="Text 5"/>
          <p:cNvSpPr/>
          <p:nvPr/>
        </p:nvSpPr>
        <p:spPr>
          <a:xfrm>
            <a:off x="777240" y="1353312"/>
            <a:ext cx="8046720" cy="256032"/>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R-type, I-type, LW, SW, BEQ, JAL — all working</a:t>
            </a:r>
            <a:endParaRPr lang="en-US" sz="1200" dirty="0"/>
          </a:p>
        </p:txBody>
      </p:sp>
      <p:sp>
        <p:nvSpPr>
          <p:cNvPr id="8" name="Shape 6"/>
          <p:cNvSpPr/>
          <p:nvPr/>
        </p:nvSpPr>
        <p:spPr>
          <a:xfrm>
            <a:off x="274320" y="1828800"/>
            <a:ext cx="347472" cy="347472"/>
          </a:xfrm>
          <a:prstGeom prst="ellipse">
            <a:avLst/>
          </a:prstGeom>
          <a:solidFill>
            <a:srgbClr val="00ACC1"/>
          </a:solidFill>
          <a:ln w="12700">
            <a:solidFill>
              <a:srgbClr val="00ACC1"/>
            </a:solidFill>
            <a:prstDash val="solid"/>
          </a:ln>
        </p:spPr>
      </p:sp>
      <p:sp>
        <p:nvSpPr>
          <p:cNvPr id="9" name="Text 7"/>
          <p:cNvSpPr/>
          <p:nvPr/>
        </p:nvSpPr>
        <p:spPr>
          <a:xfrm>
            <a:off x="274320" y="1828800"/>
            <a:ext cx="347472" cy="34747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777240" y="1755648"/>
            <a:ext cx="80467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Fully verified by simulation</a:t>
            </a:r>
            <a:endParaRPr lang="en-US" sz="1500" dirty="0"/>
          </a:p>
        </p:txBody>
      </p:sp>
      <p:sp>
        <p:nvSpPr>
          <p:cNvPr id="11" name="Text 9"/>
          <p:cNvSpPr/>
          <p:nvPr/>
        </p:nvSpPr>
        <p:spPr>
          <a:xfrm>
            <a:off x="777240" y="2103120"/>
            <a:ext cx="8046720" cy="256032"/>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22-instruction test program — all results correct</a:t>
            </a:r>
            <a:endParaRPr lang="en-US" sz="1200" dirty="0"/>
          </a:p>
        </p:txBody>
      </p:sp>
      <p:sp>
        <p:nvSpPr>
          <p:cNvPr id="12" name="Shape 10"/>
          <p:cNvSpPr/>
          <p:nvPr/>
        </p:nvSpPr>
        <p:spPr>
          <a:xfrm>
            <a:off x="274320" y="2578608"/>
            <a:ext cx="347472" cy="347472"/>
          </a:xfrm>
          <a:prstGeom prst="ellipse">
            <a:avLst/>
          </a:prstGeom>
          <a:solidFill>
            <a:srgbClr val="00ACC1"/>
          </a:solidFill>
          <a:ln w="12700">
            <a:solidFill>
              <a:srgbClr val="00ACC1"/>
            </a:solidFill>
            <a:prstDash val="solid"/>
          </a:ln>
        </p:spPr>
      </p:sp>
      <p:sp>
        <p:nvSpPr>
          <p:cNvPr id="13" name="Text 11"/>
          <p:cNvSpPr/>
          <p:nvPr/>
        </p:nvSpPr>
        <p:spPr>
          <a:xfrm>
            <a:off x="274320" y="2578608"/>
            <a:ext cx="347472" cy="34747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77240" y="2505456"/>
            <a:ext cx="80467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Control unit correctly decodes all opcodes</a:t>
            </a:r>
            <a:endParaRPr lang="en-US" sz="1500" dirty="0"/>
          </a:p>
        </p:txBody>
      </p:sp>
      <p:sp>
        <p:nvSpPr>
          <p:cNvPr id="15" name="Text 13"/>
          <p:cNvSpPr/>
          <p:nvPr/>
        </p:nvSpPr>
        <p:spPr>
          <a:xfrm>
            <a:off x="777240" y="2852928"/>
            <a:ext cx="8046720" cy="256032"/>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RegWrite, MemWrite, ALUSrc, ALUControl, PCSrc verified</a:t>
            </a:r>
            <a:endParaRPr lang="en-US" sz="1200" dirty="0"/>
          </a:p>
        </p:txBody>
      </p:sp>
      <p:sp>
        <p:nvSpPr>
          <p:cNvPr id="16" name="Shape 14"/>
          <p:cNvSpPr/>
          <p:nvPr/>
        </p:nvSpPr>
        <p:spPr>
          <a:xfrm>
            <a:off x="274320" y="3328416"/>
            <a:ext cx="347472" cy="347472"/>
          </a:xfrm>
          <a:prstGeom prst="ellipse">
            <a:avLst/>
          </a:prstGeom>
          <a:solidFill>
            <a:srgbClr val="00ACC1"/>
          </a:solidFill>
          <a:ln w="12700">
            <a:solidFill>
              <a:srgbClr val="00ACC1"/>
            </a:solidFill>
            <a:prstDash val="solid"/>
          </a:ln>
        </p:spPr>
      </p:sp>
      <p:sp>
        <p:nvSpPr>
          <p:cNvPr id="17" name="Text 15"/>
          <p:cNvSpPr/>
          <p:nvPr/>
        </p:nvSpPr>
        <p:spPr>
          <a:xfrm>
            <a:off x="274320" y="3328416"/>
            <a:ext cx="347472" cy="34747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777240" y="3255264"/>
            <a:ext cx="80467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Branch and jump logic validated</a:t>
            </a:r>
            <a:endParaRPr lang="en-US" sz="1500" dirty="0"/>
          </a:p>
        </p:txBody>
      </p:sp>
      <p:sp>
        <p:nvSpPr>
          <p:cNvPr id="19" name="Text 17"/>
          <p:cNvSpPr/>
          <p:nvPr/>
        </p:nvSpPr>
        <p:spPr>
          <a:xfrm>
            <a:off x="777240" y="3602736"/>
            <a:ext cx="8046720" cy="256032"/>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BEQ skips trap instructions; JAL executes correctly</a:t>
            </a:r>
            <a:endParaRPr lang="en-US" sz="1200" dirty="0"/>
          </a:p>
        </p:txBody>
      </p:sp>
      <p:sp>
        <p:nvSpPr>
          <p:cNvPr id="20" name="Shape 18"/>
          <p:cNvSpPr/>
          <p:nvPr/>
        </p:nvSpPr>
        <p:spPr>
          <a:xfrm>
            <a:off x="274320" y="4078224"/>
            <a:ext cx="347472" cy="347472"/>
          </a:xfrm>
          <a:prstGeom prst="ellipse">
            <a:avLst/>
          </a:prstGeom>
          <a:solidFill>
            <a:srgbClr val="00ACC1"/>
          </a:solidFill>
          <a:ln w="12700">
            <a:solidFill>
              <a:srgbClr val="00ACC1"/>
            </a:solidFill>
            <a:prstDash val="solid"/>
          </a:ln>
        </p:spPr>
      </p:sp>
      <p:sp>
        <p:nvSpPr>
          <p:cNvPr id="21" name="Text 19"/>
          <p:cNvSpPr/>
          <p:nvPr/>
        </p:nvSpPr>
        <p:spPr>
          <a:xfrm>
            <a:off x="274320" y="4078224"/>
            <a:ext cx="347472" cy="34747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777240" y="4005072"/>
            <a:ext cx="80467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Memory interface operates correctly</a:t>
            </a:r>
            <a:endParaRPr lang="en-US" sz="1500" dirty="0"/>
          </a:p>
        </p:txBody>
      </p:sp>
      <p:sp>
        <p:nvSpPr>
          <p:cNvPr id="23" name="Text 21"/>
          <p:cNvSpPr/>
          <p:nvPr/>
        </p:nvSpPr>
        <p:spPr>
          <a:xfrm>
            <a:off x="777240" y="4352544"/>
            <a:ext cx="8046720" cy="256032"/>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SW stores and LW retrieves the exact value written</a:t>
            </a:r>
            <a:endParaRPr lang="en-US" sz="1200" dirty="0"/>
          </a:p>
        </p:txBody>
      </p:sp>
      <p:sp>
        <p:nvSpPr>
          <p:cNvPr id="24" name="Text 22"/>
          <p:cNvSpPr/>
          <p:nvPr/>
        </p:nvSpPr>
        <p:spPr>
          <a:xfrm>
            <a:off x="457200" y="4773168"/>
            <a:ext cx="8229600" cy="274320"/>
          </a:xfrm>
          <a:prstGeom prst="rect">
            <a:avLst/>
          </a:prstGeom>
          <a:noFill/>
          <a:ln/>
        </p:spPr>
        <p:txBody>
          <a:bodyPr wrap="square" rtlCol="0" anchor="ctr"/>
          <a:lstStyle/>
          <a:p>
            <a:pPr marL="0" indent="0" algn="ctr">
              <a:buNone/>
            </a:pPr>
            <a:r>
              <a:rPr lang="en-US" sz="1400" dirty="0">
                <a:solidFill>
                  <a:srgbClr val="00ACC1"/>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1053</Words>
  <Application>Microsoft Office PowerPoint</Application>
  <PresentationFormat>On-screen Show (16:9)</PresentationFormat>
  <Paragraphs>212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RISC-V Single-Cycle Processor</dc:title>
  <dc:subject>PptxGenJS Presentation</dc:subject>
  <dc:creator>Zoraiz Husnain, Farzeen Fatima, Zahra Ali Abbas</dc:creator>
  <cp:lastModifiedBy>Microsoft account</cp:lastModifiedBy>
  <cp:revision>4</cp:revision>
  <dcterms:created xsi:type="dcterms:W3CDTF">2026-05-06T07:09:26Z</dcterms:created>
  <dcterms:modified xsi:type="dcterms:W3CDTF">2026-05-26T07:18:42Z</dcterms:modified>
</cp:coreProperties>
</file>